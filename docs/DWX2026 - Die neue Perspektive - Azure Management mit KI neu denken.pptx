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24"/>
  </p:notesMasterIdLst>
  <p:handoutMasterIdLst>
    <p:handoutMasterId r:id="rId25"/>
  </p:handoutMasterIdLst>
  <p:sldIdLst>
    <p:sldId id="257" r:id="rId6"/>
    <p:sldId id="308" r:id="rId7"/>
    <p:sldId id="309" r:id="rId8"/>
    <p:sldId id="310" r:id="rId9"/>
    <p:sldId id="301" r:id="rId10"/>
    <p:sldId id="302" r:id="rId11"/>
    <p:sldId id="303" r:id="rId12"/>
    <p:sldId id="314" r:id="rId13"/>
    <p:sldId id="316" r:id="rId14"/>
    <p:sldId id="311" r:id="rId15"/>
    <p:sldId id="313" r:id="rId16"/>
    <p:sldId id="317" r:id="rId17"/>
    <p:sldId id="315" r:id="rId18"/>
    <p:sldId id="293" r:id="rId19"/>
    <p:sldId id="299" r:id="rId20"/>
    <p:sldId id="298" r:id="rId21"/>
    <p:sldId id="307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EAA957-32DD-A8CA-8FB4-DA9D6ACF02A8}" name="Craig Loewen" initials="" userId="S::crloewen@microsoft.com::f671ca36-6572-430f-adbc-5de0d3a9fd90" providerId="AD"/>
  <p188:author id="{893CC38B-D2B5-B602-F03D-9FA5D86B6135}" name="Jianye Lu" initials="JL" userId="S::jianyelu@microsoft.com::7c0120d9-6860-4328-97bf-00926befcb6b" providerId="AD"/>
  <p188:author id="{BCEE0DBD-6189-2E6B-5D68-8C29FD3B679A}" name="Bryan Osotio" initials="BO" userId="S::bryano@silverfoxprod.com::c8637d84-43de-46a3-8341-5dfe5659269c" providerId="AD"/>
  <p188:author id="{F52BD2CA-862A-8922-5BA3-64A1C5220EE0}" name="Clint Rutkas" initials="CR" userId="S::crutkas@microsoft.com::d6f60daf-519d-4010-8efb-371636ce949f" providerId="AD"/>
  <p188:author id="{6AFA61D8-796F-555E-A395-B33F90AAF99E}" name="Monica Lueder" initials="ML" userId="S::monical@microsoft.com::75969e72-ba9c-4e32-a4ac-c8f3aeff9ba2" providerId="AD"/>
  <p188:author id="{53029AF5-0023-A208-73B0-B74912BCD0EE}" name="Kayla Cinnamon" initials="KC" userId="S::cinnamon@microsoft.com::42c7edfe-6723-4966-bdec-1c5017e60bc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FF"/>
    <a:srgbClr val="060702"/>
    <a:srgbClr val="0078D4"/>
    <a:srgbClr val="D7D2CB"/>
    <a:srgbClr val="E8E6DF"/>
    <a:srgbClr val="E1D3C7"/>
    <a:srgbClr val="4EFFFE"/>
    <a:srgbClr val="9BF00E"/>
    <a:srgbClr val="D59DFF"/>
    <a:srgbClr val="7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66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6/28/2026 9:31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8DAAD-3934-518B-F62A-B32024044E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BE5CB-6A38-415E-A601-C5DE328E21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6/28/2026 9:31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B2CB-E17F-657B-15B3-DB0E98286C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4922" y="1948409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D1683EB-8052-DD8D-9241-2E790290F0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44921" y="3485028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9874B-A7F6-D873-41D3-03DCB02A21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921" y="152120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68319-9987-2C60-6DCC-D542B8BDEC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199" y="318281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40C98-8BA3-8FE1-8D1D-CD52B65611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7C16A-CB57-4B52-16F1-46EC9146B9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445" y="601180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1E400-7BEA-5DAA-C9FD-6AB535DFD1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77660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15E9D-1B9A-F9D6-AAFD-87240CDC5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F0E3A-8E11-B9E6-77DA-936F67762C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BDD84-7211-1C60-C033-22B94D8830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9F23-BA9E-B0CC-0E0B-57A879219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869F-282F-B18A-F8BC-B8285FB6D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9B6A-11F3-C1B6-1EDA-3135281B3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3ABDE-B02A-3F1E-AA58-463ED4C21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741BF-D9C2-1181-68EA-8EDB6ACA62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D453B-3073-58F7-694F-9512BD804C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2B67C-E6F5-5E0B-D0DD-351EF9355C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9DBEA-5037-3989-110D-63F3EC5C97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273912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B811E0-B33A-BBFB-1572-0865CD973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84200" y="1746705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239529-9FBA-2DF5-0EC8-B9A8A03AB7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283323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BE55F-45EA-0EF1-794A-A0D4F6E51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E24C2-C0E0-7ABB-6D28-04A86D3AB6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00" y="31190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581CD-B69D-FD84-E4CE-B6199EF90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24797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490CC-4FE3-700D-548F-33BAEEB48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480447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82783-BC42-5658-D5AE-BED6E6735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7A47C-950A-D08C-7CA1-B83467EF7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88EA-BB6B-9CF1-E8C9-8C708AD2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D17DB-4DD6-812E-8402-8C84B933F6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A37A-89E1-05D3-BA84-39C314D9EB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D015C-464B-083D-FE44-A80C4C7E9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5FE20-5D0F-5148-33CD-21E54ECBC0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EB6C2-2784-3909-1112-A4CB02FD5E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C75CB-C95D-E17E-E33C-9C75ADB84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8A81E-1AFE-CB99-6564-E7EEDE9AA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A4C18-717E-1E62-CFF9-A4ED2F889F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1AE2D-0727-6228-C84F-7ADA770D4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9120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11A24-B0D0-EA80-E49A-CDCA025B3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47" Type="http://schemas.openxmlformats.org/officeDocument/2006/relationships/slideLayout" Target="../slideLayouts/slideLayout91.xml"/><Relationship Id="rId50" Type="http://schemas.openxmlformats.org/officeDocument/2006/relationships/image" Target="../media/image1.sv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48" Type="http://schemas.openxmlformats.org/officeDocument/2006/relationships/slideLayout" Target="../slideLayouts/slideLayout92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608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70" r:id="rId19"/>
    <p:sldLayoutId id="2147485471" r:id="rId20"/>
    <p:sldLayoutId id="2147485472" r:id="rId21"/>
    <p:sldLayoutId id="2147485473" r:id="rId22"/>
    <p:sldLayoutId id="2147485474" r:id="rId23"/>
    <p:sldLayoutId id="2147485475" r:id="rId24"/>
    <p:sldLayoutId id="2147485476" r:id="rId25"/>
    <p:sldLayoutId id="2147485477" r:id="rId26"/>
    <p:sldLayoutId id="2147485478" r:id="rId27"/>
    <p:sldLayoutId id="2147485479" r:id="rId28"/>
    <p:sldLayoutId id="2147485480" r:id="rId29"/>
    <p:sldLayoutId id="2147485481" r:id="rId30"/>
    <p:sldLayoutId id="2147485484" r:id="rId31"/>
    <p:sldLayoutId id="2147485485" r:id="rId32"/>
    <p:sldLayoutId id="2147485486" r:id="rId33"/>
    <p:sldLayoutId id="2147485487" r:id="rId34"/>
    <p:sldLayoutId id="2147485488" r:id="rId35"/>
    <p:sldLayoutId id="2147485489" r:id="rId36"/>
    <p:sldLayoutId id="2147485490" r:id="rId37"/>
    <p:sldLayoutId id="2147485491" r:id="rId38"/>
    <p:sldLayoutId id="2147485492" r:id="rId39"/>
    <p:sldLayoutId id="2147485493" r:id="rId40"/>
    <p:sldLayoutId id="2147485494" r:id="rId41"/>
    <p:sldLayoutId id="2147485495" r:id="rId42"/>
    <p:sldLayoutId id="2147485496" r:id="rId43"/>
    <p:sldLayoutId id="2147485603" r:id="rId4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9" r:id="rId6"/>
    <p:sldLayoutId id="2147485560" r:id="rId7"/>
    <p:sldLayoutId id="2147485561" r:id="rId8"/>
    <p:sldLayoutId id="2147485562" r:id="rId9"/>
    <p:sldLayoutId id="2147485563" r:id="rId10"/>
    <p:sldLayoutId id="2147485564" r:id="rId11"/>
    <p:sldLayoutId id="2147485565" r:id="rId12"/>
    <p:sldLayoutId id="2147485566" r:id="rId13"/>
    <p:sldLayoutId id="2147485567" r:id="rId14"/>
    <p:sldLayoutId id="2147485568" r:id="rId15"/>
    <p:sldLayoutId id="2147485569" r:id="rId16"/>
    <p:sldLayoutId id="2147485570" r:id="rId17"/>
    <p:sldLayoutId id="2147485571" r:id="rId18"/>
    <p:sldLayoutId id="2147485572" r:id="rId19"/>
    <p:sldLayoutId id="2147485573" r:id="rId20"/>
    <p:sldLayoutId id="2147485574" r:id="rId21"/>
    <p:sldLayoutId id="2147485575" r:id="rId22"/>
    <p:sldLayoutId id="2147485576" r:id="rId23"/>
    <p:sldLayoutId id="2147485577" r:id="rId24"/>
    <p:sldLayoutId id="2147485578" r:id="rId25"/>
    <p:sldLayoutId id="2147485579" r:id="rId26"/>
    <p:sldLayoutId id="2147485580" r:id="rId27"/>
    <p:sldLayoutId id="2147485581" r:id="rId28"/>
    <p:sldLayoutId id="2147485582" r:id="rId29"/>
    <p:sldLayoutId id="2147485583" r:id="rId30"/>
    <p:sldLayoutId id="2147485584" r:id="rId31"/>
    <p:sldLayoutId id="2147485585" r:id="rId32"/>
    <p:sldLayoutId id="2147485586" r:id="rId33"/>
    <p:sldLayoutId id="2147485587" r:id="rId34"/>
    <p:sldLayoutId id="2147485588" r:id="rId35"/>
    <p:sldLayoutId id="2147485589" r:id="rId36"/>
    <p:sldLayoutId id="2147485590" r:id="rId37"/>
    <p:sldLayoutId id="2147485591" r:id="rId38"/>
    <p:sldLayoutId id="2147485592" r:id="rId39"/>
    <p:sldLayoutId id="2147485593" r:id="rId40"/>
    <p:sldLayoutId id="2147485594" r:id="rId41"/>
    <p:sldLayoutId id="2147485595" r:id="rId42"/>
    <p:sldLayoutId id="2147485596" r:id="rId43"/>
    <p:sldLayoutId id="2147485597" r:id="rId44"/>
    <p:sldLayoutId id="2147485598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895FBF-C7A9-4063-C51E-68A83FCB7D2A}"/>
              </a:ext>
            </a:extLst>
          </p:cNvPr>
          <p:cNvSpPr/>
          <p:nvPr/>
        </p:nvSpPr>
        <p:spPr bwMode="auto">
          <a:xfrm>
            <a:off x="451786" y="4126193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A86AB6-4520-27A5-D83A-1177D5A5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1" y="1526958"/>
            <a:ext cx="9661620" cy="2599235"/>
          </a:xfrm>
        </p:spPr>
        <p:txBody>
          <a:bodyPr/>
          <a:lstStyle/>
          <a:p>
            <a:r>
              <a:rPr lang="de-DE" sz="2800" b="1" dirty="0"/>
              <a:t>Die neue Perspektive</a:t>
            </a:r>
            <a:br>
              <a:rPr lang="de-DE" b="1" dirty="0"/>
            </a:br>
            <a:r>
              <a:rPr lang="de-DE" b="1" dirty="0"/>
              <a:t>Azure Management mit KI </a:t>
            </a:r>
            <a:br>
              <a:rPr lang="de-DE" b="1" dirty="0"/>
            </a:br>
            <a:r>
              <a:rPr lang="de-DE" b="1" dirty="0"/>
              <a:t>neu denken</a:t>
            </a:r>
            <a:br>
              <a:rPr lang="de-DE" b="1" dirty="0"/>
            </a:br>
            <a:br>
              <a:rPr lang="en-US" sz="3200" dirty="0"/>
            </a:br>
            <a:endParaRPr lang="de-DE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40A766-5461-A1F2-A10C-B12C4B04A3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61" y="1000773"/>
            <a:ext cx="5577839" cy="27699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68CAEFE-3D17-AFD2-984E-8799BF57A500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77B9A-C974-1492-6257-30F9BF11A956}"/>
              </a:ext>
            </a:extLst>
          </p:cNvPr>
          <p:cNvSpPr txBox="1"/>
          <p:nvPr/>
        </p:nvSpPr>
        <p:spPr>
          <a:xfrm>
            <a:off x="518161" y="4814469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05181-A5EE-6A94-001B-907409E6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08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7DE9A-D529-4F09-E5A6-4489272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1EB295-3BFC-81C0-BD6A-1C37E6ACCF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2203680"/>
          </a:xfrm>
        </p:spPr>
        <p:txBody>
          <a:bodyPr/>
          <a:lstStyle/>
          <a:p>
            <a:r>
              <a:rPr lang="en-US" dirty="0"/>
              <a:t>Azure Management</a:t>
            </a:r>
          </a:p>
          <a:p>
            <a:r>
              <a:rPr lang="en-US" dirty="0"/>
              <a:t>MCP Approach</a:t>
            </a:r>
          </a:p>
          <a:p>
            <a:r>
              <a:rPr lang="en-US" dirty="0"/>
              <a:t>CLAW Approach</a:t>
            </a:r>
          </a:p>
          <a:p>
            <a:pPr lvl="1"/>
            <a:r>
              <a:rPr lang="en-US" dirty="0" err="1"/>
              <a:t>az</a:t>
            </a:r>
            <a:r>
              <a:rPr lang="en-US" dirty="0"/>
              <a:t> cli</a:t>
            </a:r>
          </a:p>
          <a:p>
            <a:pPr lvl="1"/>
            <a:r>
              <a:rPr lang="en-US" dirty="0"/>
              <a:t>playwright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48717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18D-57CB-BBEA-E7A2-D4D18743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Management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5118-C640-A324-8998-C791FAA5D7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3016210"/>
          </a:xfrm>
        </p:spPr>
        <p:txBody>
          <a:bodyPr/>
          <a:lstStyle/>
          <a:p>
            <a:r>
              <a:rPr lang="en-US" dirty="0"/>
              <a:t>Azure Portal</a:t>
            </a:r>
          </a:p>
          <a:p>
            <a:r>
              <a:rPr lang="en-US" dirty="0"/>
              <a:t>ARM</a:t>
            </a:r>
          </a:p>
          <a:p>
            <a:r>
              <a:rPr lang="en-US" dirty="0"/>
              <a:t>PowerShell</a:t>
            </a:r>
          </a:p>
          <a:p>
            <a:r>
              <a:rPr lang="en-US" dirty="0"/>
              <a:t>Bicep</a:t>
            </a:r>
          </a:p>
          <a:p>
            <a:r>
              <a:rPr lang="en-US" dirty="0"/>
              <a:t>AZ CLI</a:t>
            </a:r>
          </a:p>
          <a:p>
            <a:r>
              <a:rPr lang="en-US" dirty="0"/>
              <a:t>Terraform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44467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257E-DB10-379D-37DC-3B91DC3F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Neu Denken?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0C81-2A12-D681-8CC1-F09A2614C7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947952"/>
          </a:xfrm>
        </p:spPr>
        <p:txBody>
          <a:bodyPr/>
          <a:lstStyle/>
          <a:p>
            <a:r>
              <a:rPr lang="en-US" dirty="0"/>
              <a:t>MCP Server Approach</a:t>
            </a:r>
          </a:p>
          <a:p>
            <a:r>
              <a:rPr lang="en-US" dirty="0"/>
              <a:t>Command Line Agent Workflow (CLAW) Approach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76772-D3E6-1EFB-58AF-D2D92E8C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18784"/>
            <a:ext cx="7385050" cy="375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933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69100-754F-5A63-49D4-A0B94D48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4569A-CD03-C2CC-0850-E0F70B06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MCP</a:t>
            </a:r>
            <a:br>
              <a:rPr lang="en-US" sz="4400" dirty="0"/>
            </a:br>
            <a:r>
              <a:rPr lang="en-US" sz="3600" dirty="0"/>
              <a:t>Model Context Protocol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167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6264-11DF-D998-905C-B468D714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6194-36EF-DDD2-F4B9-2AD5C1EE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97566-4EC7-7CF4-DAF3-E875BB6749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1000" y="3009170"/>
            <a:ext cx="4556410" cy="1107996"/>
          </a:xfrm>
        </p:spPr>
        <p:txBody>
          <a:bodyPr/>
          <a:lstStyle/>
          <a:p>
            <a:pPr algn="ctr"/>
            <a:r>
              <a:rPr lang="en-US" sz="2400" dirty="0"/>
              <a:t>Created by Anthropic</a:t>
            </a:r>
            <a:br>
              <a:rPr lang="en-US" sz="2400" dirty="0"/>
            </a:br>
            <a:r>
              <a:rPr lang="en-US" sz="2400" dirty="0"/>
              <a:t>Adopted by the AI community</a:t>
            </a:r>
            <a:br>
              <a:rPr lang="en-US" sz="2400" dirty="0"/>
            </a:b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80458017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BE33-6F47-6689-A3EF-80DD7575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MCP and how does it work?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4789E-A680-6BBD-D09B-BEE66948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8263" y="1454030"/>
            <a:ext cx="9716951" cy="39499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97EEF8-7AE4-1ECF-0005-E8FA66DA7309}"/>
              </a:ext>
            </a:extLst>
          </p:cNvPr>
          <p:cNvSpPr/>
          <p:nvPr/>
        </p:nvSpPr>
        <p:spPr bwMode="auto">
          <a:xfrm>
            <a:off x="831850" y="2774950"/>
            <a:ext cx="2851150" cy="654050"/>
          </a:xfrm>
          <a:prstGeom prst="rect">
            <a:avLst/>
          </a:prstGeom>
          <a:solidFill>
            <a:schemeClr val="bg1"/>
          </a:solidFill>
          <a:ln>
            <a:solidFill>
              <a:srgbClr val="000F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Application/Agent</a:t>
            </a:r>
            <a:endParaRPr lang="de-DE" sz="20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B2148-3F8F-2DBA-C5F5-32267A268B3C}"/>
              </a:ext>
            </a:extLst>
          </p:cNvPr>
          <p:cNvSpPr txBox="1"/>
          <p:nvPr/>
        </p:nvSpPr>
        <p:spPr>
          <a:xfrm>
            <a:off x="3787775" y="2595524"/>
            <a:ext cx="78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stdio</a:t>
            </a:r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23C261-0B14-3D5D-715B-A7B3C34D3758}"/>
              </a:ext>
            </a:extLst>
          </p:cNvPr>
          <p:cNvSpPr/>
          <p:nvPr/>
        </p:nvSpPr>
        <p:spPr bwMode="auto">
          <a:xfrm>
            <a:off x="4572000" y="3350937"/>
            <a:ext cx="1581150" cy="50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http stream</a:t>
            </a:r>
            <a:endParaRPr lang="de-DE" sz="16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7615C-BCC7-D1E7-0D45-107E001DE1F5}"/>
              </a:ext>
            </a:extLst>
          </p:cNvPr>
          <p:cNvSpPr txBox="1"/>
          <p:nvPr/>
        </p:nvSpPr>
        <p:spPr>
          <a:xfrm>
            <a:off x="3889375" y="1840111"/>
            <a:ext cx="78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stdio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858276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1327-58AC-596C-44DC-C47C9800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MCP Server</a:t>
            </a:r>
            <a:endParaRPr lang="de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571BA-997A-02AE-CFCD-11E7D0731B57}"/>
              </a:ext>
            </a:extLst>
          </p:cNvPr>
          <p:cNvSpPr/>
          <p:nvPr/>
        </p:nvSpPr>
        <p:spPr bwMode="auto">
          <a:xfrm>
            <a:off x="2832100" y="2908300"/>
            <a:ext cx="2851150" cy="654050"/>
          </a:xfrm>
          <a:prstGeom prst="rect">
            <a:avLst/>
          </a:prstGeom>
          <a:solidFill>
            <a:schemeClr val="bg1"/>
          </a:solidFill>
          <a:ln>
            <a:solidFill>
              <a:srgbClr val="000F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FFF"/>
                </a:solidFill>
                <a:ea typeface="Segoe UI" pitchFamily="34" charset="0"/>
                <a:cs typeface="Segoe UI" pitchFamily="34" charset="0"/>
              </a:rPr>
              <a:t>Application/Agent</a:t>
            </a:r>
            <a:endParaRPr lang="de-DE" sz="2000" dirty="0" err="1">
              <a:solidFill>
                <a:srgbClr val="000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F0A7A-1FC1-6986-84A2-2D6A698A71C3}"/>
              </a:ext>
            </a:extLst>
          </p:cNvPr>
          <p:cNvSpPr txBox="1"/>
          <p:nvPr/>
        </p:nvSpPr>
        <p:spPr>
          <a:xfrm>
            <a:off x="5732462" y="2908300"/>
            <a:ext cx="78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stdio</a:t>
            </a:r>
            <a:endParaRPr lang="de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5B07D-CFA9-F6CB-AEAD-E9C0AF480392}"/>
              </a:ext>
            </a:extLst>
          </p:cNvPr>
          <p:cNvSpPr/>
          <p:nvPr/>
        </p:nvSpPr>
        <p:spPr bwMode="auto">
          <a:xfrm>
            <a:off x="6565900" y="2908300"/>
            <a:ext cx="2851150" cy="654050"/>
          </a:xfrm>
          <a:prstGeom prst="rect">
            <a:avLst/>
          </a:prstGeom>
          <a:solidFill>
            <a:schemeClr val="bg1"/>
          </a:solidFill>
          <a:ln>
            <a:solidFill>
              <a:srgbClr val="000F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FFF"/>
                </a:solidFill>
                <a:ea typeface="Segoe UI" pitchFamily="34" charset="0"/>
                <a:cs typeface="Segoe UI" pitchFamily="34" charset="0"/>
              </a:rPr>
              <a:t>Azure MCP Server</a:t>
            </a:r>
            <a:endParaRPr lang="de-DE" sz="2000" dirty="0" err="1">
              <a:solidFill>
                <a:srgbClr val="000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A0BD45-479D-12F4-0886-5A6E964B86E9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5683250" y="3235325"/>
            <a:ext cx="88265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User outline">
            <a:extLst>
              <a:ext uri="{FF2B5EF4-FFF2-40B4-BE49-F238E27FC236}">
                <a16:creationId xmlns:a16="http://schemas.microsoft.com/office/drawing/2014/main" id="{6E43C89B-F2EA-5B5A-6EA4-1C71AF6CF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527" y="2875002"/>
            <a:ext cx="553998" cy="55399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3C6A7-881A-A0C3-CAE5-79419C1E9A0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587500" y="3235325"/>
            <a:ext cx="124460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6B7477-E641-BFB3-85DA-ECC56989B1F7}"/>
              </a:ext>
            </a:extLst>
          </p:cNvPr>
          <p:cNvSpPr txBox="1"/>
          <p:nvPr/>
        </p:nvSpPr>
        <p:spPr>
          <a:xfrm>
            <a:off x="2422525" y="3985482"/>
            <a:ext cx="6813550" cy="226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</a:t>
            </a:r>
            <a:r>
              <a:rPr lang="de-DE" dirty="0" err="1"/>
              <a:t>mcpServers</a:t>
            </a:r>
            <a:r>
              <a:rPr lang="de-DE" dirty="0"/>
              <a:t>": {</a:t>
            </a:r>
          </a:p>
          <a:p>
            <a:r>
              <a:rPr lang="de-DE" dirty="0"/>
              <a:t>    "Azure MCP Server": {</a:t>
            </a:r>
          </a:p>
          <a:p>
            <a:r>
              <a:rPr lang="de-DE" dirty="0"/>
              <a:t>      "</a:t>
            </a:r>
            <a:r>
              <a:rPr lang="de-DE" dirty="0" err="1"/>
              <a:t>command</a:t>
            </a:r>
            <a:r>
              <a:rPr lang="de-DE" dirty="0"/>
              <a:t>": "</a:t>
            </a:r>
            <a:r>
              <a:rPr lang="de-DE" dirty="0" err="1"/>
              <a:t>npx</a:t>
            </a:r>
            <a:r>
              <a:rPr lang="de-DE" dirty="0"/>
              <a:t>",</a:t>
            </a:r>
          </a:p>
          <a:p>
            <a:r>
              <a:rPr lang="de-DE" dirty="0"/>
              <a:t>      "</a:t>
            </a:r>
            <a:r>
              <a:rPr lang="de-DE" dirty="0" err="1"/>
              <a:t>args</a:t>
            </a:r>
            <a:r>
              <a:rPr lang="de-DE" dirty="0"/>
              <a:t>": ["-y", "@</a:t>
            </a:r>
            <a:r>
              <a:rPr lang="de-DE" dirty="0" err="1"/>
              <a:t>azure</a:t>
            </a:r>
            <a:r>
              <a:rPr lang="de-DE" dirty="0"/>
              <a:t>/</a:t>
            </a:r>
            <a:r>
              <a:rPr lang="de-DE" dirty="0" err="1"/>
              <a:t>mcp@latest</a:t>
            </a:r>
            <a:r>
              <a:rPr lang="de-DE" dirty="0"/>
              <a:t>", "</a:t>
            </a:r>
            <a:r>
              <a:rPr lang="de-DE" dirty="0" err="1"/>
              <a:t>server</a:t>
            </a:r>
            <a:r>
              <a:rPr lang="de-DE" dirty="0"/>
              <a:t>", "</a:t>
            </a:r>
            <a:r>
              <a:rPr lang="de-DE" dirty="0" err="1"/>
              <a:t>start</a:t>
            </a:r>
            <a:r>
              <a:rPr lang="de-DE" dirty="0"/>
              <a:t>"]</a:t>
            </a:r>
          </a:p>
          <a:p>
            <a:r>
              <a:rPr lang="de-DE" dirty="0"/>
              <a:t>    }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064247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26257D-907E-A4FE-4139-1CAD2A50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Azure MCP Server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AF256-2736-3E8D-CD33-78FC7BDF97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77319"/>
            <a:ext cx="6400800" cy="492443"/>
          </a:xfrm>
        </p:spPr>
        <p:txBody>
          <a:bodyPr/>
          <a:lstStyle/>
          <a:p>
            <a:r>
              <a:rPr lang="en-US" dirty="0"/>
              <a:t>Claude Coworker</a:t>
            </a:r>
          </a:p>
          <a:p>
            <a:r>
              <a:rPr lang="en-US" dirty="0"/>
              <a:t>Console App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90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C1F4-B1EE-B3C3-0CB6-33BE3581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301E1F-A916-FFF3-D488-DD91E577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The CLAW Approach</a:t>
            </a:r>
            <a:br>
              <a:rPr lang="en-US" sz="4400" dirty="0"/>
            </a:br>
            <a:r>
              <a:rPr lang="en-US" sz="3600" dirty="0"/>
              <a:t>Command Line Agent Workflow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721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3D1A-386D-6331-B917-2C66A959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BEC8C3-C2C6-324A-ACC4-EC9F8BBC62DC}"/>
              </a:ext>
            </a:extLst>
          </p:cNvPr>
          <p:cNvSpPr/>
          <p:nvPr/>
        </p:nvSpPr>
        <p:spPr bwMode="auto">
          <a:xfrm>
            <a:off x="1758950" y="1800225"/>
            <a:ext cx="6286500" cy="358775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AGENT</a:t>
            </a:r>
            <a:br>
              <a:rPr lang="en-US" sz="20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</a:b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6DB52-8C29-8D87-45A8-4ABDF9F4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CLAW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DC4D7B-9AD5-0BBD-183D-8C6E7D46E1FA}"/>
              </a:ext>
            </a:extLst>
          </p:cNvPr>
          <p:cNvSpPr/>
          <p:nvPr/>
        </p:nvSpPr>
        <p:spPr bwMode="auto">
          <a:xfrm>
            <a:off x="2419350" y="3079750"/>
            <a:ext cx="1562100" cy="11303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AGENT</a:t>
            </a:r>
            <a:br>
              <a:rPr lang="en-US" sz="20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</a:b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14165-95C6-9D04-E070-42A21FB7B972}"/>
              </a:ext>
            </a:extLst>
          </p:cNvPr>
          <p:cNvSpPr/>
          <p:nvPr/>
        </p:nvSpPr>
        <p:spPr bwMode="auto">
          <a:xfrm>
            <a:off x="5743575" y="2400300"/>
            <a:ext cx="1622424" cy="51435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az</a:t>
            </a:r>
            <a:r>
              <a:rPr lang="en-US" sz="18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 cli</a:t>
            </a:r>
            <a:endParaRPr lang="de-DE" sz="18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7E364-0964-D4B3-F9B6-79D24B804AE0}"/>
              </a:ext>
            </a:extLst>
          </p:cNvPr>
          <p:cNvSpPr/>
          <p:nvPr/>
        </p:nvSpPr>
        <p:spPr bwMode="auto">
          <a:xfrm>
            <a:off x="5743574" y="3079750"/>
            <a:ext cx="1622425" cy="51435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powershell</a:t>
            </a:r>
            <a:endParaRPr lang="de-DE" sz="18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0682E-5ABD-4C0B-C04C-73BAD1347542}"/>
              </a:ext>
            </a:extLst>
          </p:cNvPr>
          <p:cNvSpPr/>
          <p:nvPr/>
        </p:nvSpPr>
        <p:spPr bwMode="auto">
          <a:xfrm>
            <a:off x="5743574" y="3787775"/>
            <a:ext cx="1622425" cy="51435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cmd</a:t>
            </a:r>
            <a:endParaRPr lang="de-DE" sz="18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5CCBC1-B5E9-E4FC-F5B1-3C35FD392F74}"/>
              </a:ext>
            </a:extLst>
          </p:cNvPr>
          <p:cNvSpPr/>
          <p:nvPr/>
        </p:nvSpPr>
        <p:spPr bwMode="auto">
          <a:xfrm>
            <a:off x="5743573" y="4495800"/>
            <a:ext cx="1622425" cy="51435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any cli</a:t>
            </a:r>
            <a:endParaRPr lang="de-DE" sz="18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Graphic 17" descr="User outline">
            <a:extLst>
              <a:ext uri="{FF2B5EF4-FFF2-40B4-BE49-F238E27FC236}">
                <a16:creationId xmlns:a16="http://schemas.microsoft.com/office/drawing/2014/main" id="{4CCB18A6-6B59-352D-5134-B7C351BA4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852" y="3336925"/>
            <a:ext cx="553998" cy="55399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15D01-FA76-780C-4CD4-7F76347DB428}"/>
              </a:ext>
            </a:extLst>
          </p:cNvPr>
          <p:cNvCxnSpPr/>
          <p:nvPr/>
        </p:nvCxnSpPr>
        <p:spPr>
          <a:xfrm>
            <a:off x="1225550" y="3651250"/>
            <a:ext cx="119380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D011C6-0B88-8920-DF72-D80896F2B7C0}"/>
              </a:ext>
            </a:extLst>
          </p:cNvPr>
          <p:cNvSpPr txBox="1"/>
          <p:nvPr/>
        </p:nvSpPr>
        <p:spPr>
          <a:xfrm>
            <a:off x="1079847" y="3337123"/>
            <a:ext cx="6600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intent</a:t>
            </a:r>
            <a:endParaRPr lang="de-DE" sz="2000" dirty="0" err="1"/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26FE056E-EF05-F93C-B682-CB4D9FB618DE}"/>
              </a:ext>
            </a:extLst>
          </p:cNvPr>
          <p:cNvSpPr/>
          <p:nvPr/>
        </p:nvSpPr>
        <p:spPr bwMode="auto">
          <a:xfrm>
            <a:off x="482600" y="4086188"/>
            <a:ext cx="1752600" cy="457198"/>
          </a:xfrm>
          <a:prstGeom prst="wedgeRectCallout">
            <a:avLst>
              <a:gd name="adj1" fmla="val -19021"/>
              <a:gd name="adj2" fmla="val -95909"/>
            </a:avLst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Show account info</a:t>
            </a:r>
            <a:endParaRPr lang="de-DE" sz="12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553951-2DD5-5E71-7BA2-248FD6F3EF42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3981450" y="2657475"/>
            <a:ext cx="1762125" cy="98742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848DF2DA-319A-F09A-F526-58E998646B37}"/>
              </a:ext>
            </a:extLst>
          </p:cNvPr>
          <p:cNvSpPr/>
          <p:nvPr/>
        </p:nvSpPr>
        <p:spPr bwMode="auto">
          <a:xfrm>
            <a:off x="3832225" y="1945462"/>
            <a:ext cx="1752600" cy="457198"/>
          </a:xfrm>
          <a:prstGeom prst="wedgeRectCallout">
            <a:avLst>
              <a:gd name="adj1" fmla="val 907"/>
              <a:gd name="adj2" fmla="val 181870"/>
            </a:avLst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az</a:t>
            </a: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 account show</a:t>
            </a:r>
            <a:endParaRPr lang="de-DE" sz="120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2000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D872-A677-8EFB-F55D-AC277B19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534F6D-3313-AE58-E123-A8B674A4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CLAW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B773A-D6BE-4F0C-13D6-7F5C62F0DB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77319"/>
            <a:ext cx="6400800" cy="738664"/>
          </a:xfrm>
        </p:spPr>
        <p:txBody>
          <a:bodyPr/>
          <a:lstStyle/>
          <a:p>
            <a:r>
              <a:rPr lang="en-US" dirty="0"/>
              <a:t>Console App CLAW Approach</a:t>
            </a:r>
          </a:p>
          <a:p>
            <a:r>
              <a:rPr lang="en-US" dirty="0"/>
              <a:t>AZ CLI</a:t>
            </a:r>
          </a:p>
          <a:p>
            <a:r>
              <a:rPr lang="en-US" dirty="0"/>
              <a:t>Playwright (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CLI </a:t>
            </a:r>
            <a:r>
              <a:rPr lang="en-US" dirty="0" err="1"/>
              <a:t>vorhanden</a:t>
            </a:r>
            <a:r>
              <a:rPr lang="en-US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551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175B-DE88-0B10-E8B3-4155D21A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F41D8B8-1DDF-82CA-0369-D8CD5CA5F2D2}"/>
              </a:ext>
            </a:extLst>
          </p:cNvPr>
          <p:cNvSpPr/>
          <p:nvPr/>
        </p:nvSpPr>
        <p:spPr bwMode="auto">
          <a:xfrm>
            <a:off x="451785" y="4097396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9316CF-DB3A-22FD-EFCE-B9F60866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1" y="1971757"/>
            <a:ext cx="9661620" cy="2154436"/>
          </a:xfrm>
        </p:spPr>
        <p:txBody>
          <a:bodyPr/>
          <a:lstStyle/>
          <a:p>
            <a:r>
              <a:rPr lang="de-DE" sz="2800" b="1" dirty="0"/>
              <a:t>Die neue Perspektive</a:t>
            </a:r>
            <a:br>
              <a:rPr lang="de-DE" b="1" dirty="0"/>
            </a:br>
            <a:br>
              <a:rPr lang="de-DE" b="1" dirty="0"/>
            </a:br>
            <a:r>
              <a:rPr lang="de-DE" b="1" dirty="0"/>
              <a:t>DANKE </a:t>
            </a:r>
            <a:r>
              <a:rPr lang="de-DE" b="1" dirty="0">
                <a:sym typeface="Wingdings" panose="05000000000000000000" pitchFamily="2" charset="2"/>
              </a:rPr>
              <a:t></a:t>
            </a:r>
            <a:br>
              <a:rPr lang="en-US" sz="3200" dirty="0"/>
            </a:br>
            <a:endParaRPr lang="de-DE" sz="32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F8025C2-EB37-84A0-B973-6CB12E012EF6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E6620D-8E4F-F043-2B64-2387A5AC5CBF}"/>
              </a:ext>
            </a:extLst>
          </p:cNvPr>
          <p:cNvSpPr txBox="1"/>
          <p:nvPr/>
        </p:nvSpPr>
        <p:spPr>
          <a:xfrm>
            <a:off x="518161" y="4872844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384C1D-BC46-773A-14A0-903C4504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2151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CC89-DB6D-ECFC-805E-CBF8B654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-&gt; Model Chat </a:t>
            </a:r>
            <a:r>
              <a:rPr lang="en-US" dirty="0" err="1"/>
              <a:t>iteraction</a:t>
            </a:r>
            <a:endParaRPr lang="de-DE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901A2FC-3F4E-719D-C5C2-0F2037B16003}"/>
              </a:ext>
            </a:extLst>
          </p:cNvPr>
          <p:cNvSpPr/>
          <p:nvPr/>
        </p:nvSpPr>
        <p:spPr>
          <a:xfrm>
            <a:off x="3984253" y="2191113"/>
            <a:ext cx="3498903" cy="617049"/>
          </a:xfrm>
          <a:prstGeom prst="wedgeRectCallout">
            <a:avLst>
              <a:gd name="adj1" fmla="val -13746"/>
              <a:gd name="adj2" fmla="val 15249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</a:rPr>
              <a:t>User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de-DE" dirty="0" err="1">
                <a:solidFill>
                  <a:schemeClr val="tx1"/>
                </a:solidFill>
              </a:rPr>
              <a:t>How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you</a:t>
            </a:r>
            <a:r>
              <a:rPr lang="de-DE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fik 1">
            <a:extLst>
              <a:ext uri="{FF2B5EF4-FFF2-40B4-BE49-F238E27FC236}">
                <a16:creationId xmlns:a16="http://schemas.microsoft.com/office/drawing/2014/main" id="{D6E56107-CB4A-6EDC-EA91-E6D0D3DD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043346" y="3193962"/>
            <a:ext cx="1209569" cy="8073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5738E5-506C-8A6E-594E-B179DE7BDC17}"/>
              </a:ext>
            </a:extLst>
          </p:cNvPr>
          <p:cNvCxnSpPr>
            <a:cxnSpLocks/>
            <a:stCxn id="9" idx="2"/>
            <a:endCxn id="6" idx="1"/>
          </p:cNvCxnSpPr>
          <p:nvPr/>
        </p:nvCxnSpPr>
        <p:spPr>
          <a:xfrm flipH="1" flipV="1">
            <a:off x="4252915" y="3597656"/>
            <a:ext cx="3480518" cy="762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4">
            <a:extLst>
              <a:ext uri="{FF2B5EF4-FFF2-40B4-BE49-F238E27FC236}">
                <a16:creationId xmlns:a16="http://schemas.microsoft.com/office/drawing/2014/main" id="{577EABFC-C2C7-3F7F-1057-E7EFE6AD1512}"/>
              </a:ext>
            </a:extLst>
          </p:cNvPr>
          <p:cNvSpPr txBox="1"/>
          <p:nvPr/>
        </p:nvSpPr>
        <p:spPr>
          <a:xfrm>
            <a:off x="3100613" y="400134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Prompt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1C0368-C2E3-43CB-8E70-4A151146DF0C}"/>
              </a:ext>
            </a:extLst>
          </p:cNvPr>
          <p:cNvSpPr/>
          <p:nvPr/>
        </p:nvSpPr>
        <p:spPr>
          <a:xfrm>
            <a:off x="7733433" y="3238856"/>
            <a:ext cx="876300" cy="7328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AI</a:t>
            </a:r>
            <a:endParaRPr lang="en-US" dirty="0"/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7591516-B972-DEA9-646F-28EE301EDA6B}"/>
              </a:ext>
            </a:extLst>
          </p:cNvPr>
          <p:cNvSpPr txBox="1"/>
          <p:nvPr/>
        </p:nvSpPr>
        <p:spPr>
          <a:xfrm>
            <a:off x="5462484" y="3235943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(1)</a:t>
            </a:r>
            <a:endParaRPr lang="en-US" dirty="0"/>
          </a:p>
        </p:txBody>
      </p:sp>
      <p:sp>
        <p:nvSpPr>
          <p:cNvPr id="11" name="TextBox 43">
            <a:extLst>
              <a:ext uri="{FF2B5EF4-FFF2-40B4-BE49-F238E27FC236}">
                <a16:creationId xmlns:a16="http://schemas.microsoft.com/office/drawing/2014/main" id="{3CB12F9D-8AD2-70E5-14B7-18A364CACE88}"/>
              </a:ext>
            </a:extLst>
          </p:cNvPr>
          <p:cNvSpPr txBox="1"/>
          <p:nvPr/>
        </p:nvSpPr>
        <p:spPr>
          <a:xfrm>
            <a:off x="5489715" y="3864382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FF0000"/>
                </a:solidFill>
              </a:rPr>
              <a:t>(2)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A221F-A34B-BA77-6430-B709366BC4E3}"/>
              </a:ext>
            </a:extLst>
          </p:cNvPr>
          <p:cNvCxnSpPr>
            <a:cxnSpLocks/>
          </p:cNvCxnSpPr>
          <p:nvPr/>
        </p:nvCxnSpPr>
        <p:spPr>
          <a:xfrm>
            <a:off x="4135913" y="3841004"/>
            <a:ext cx="3488519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E758D2C-7481-7024-32E6-109E677D7B95}"/>
              </a:ext>
            </a:extLst>
          </p:cNvPr>
          <p:cNvSpPr/>
          <p:nvPr/>
        </p:nvSpPr>
        <p:spPr>
          <a:xfrm>
            <a:off x="3984253" y="4970019"/>
            <a:ext cx="4748933" cy="945110"/>
          </a:xfrm>
          <a:prstGeom prst="wedgeRectCallout">
            <a:avLst>
              <a:gd name="adj1" fmla="val -24979"/>
              <a:gd name="adj2" fmla="val -11702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</a:rPr>
              <a:t>Assistent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de-DE" dirty="0" err="1">
                <a:solidFill>
                  <a:schemeClr val="tx1"/>
                </a:solidFill>
              </a:rPr>
              <a:t>I‘m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fine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how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I </a:t>
            </a:r>
            <a:r>
              <a:rPr lang="de-DE" dirty="0" err="1">
                <a:solidFill>
                  <a:schemeClr val="tx1"/>
                </a:solidFill>
              </a:rPr>
              <a:t>help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you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Graphic 9" descr="Envelope outline">
            <a:extLst>
              <a:ext uri="{FF2B5EF4-FFF2-40B4-BE49-F238E27FC236}">
                <a16:creationId xmlns:a16="http://schemas.microsoft.com/office/drawing/2014/main" id="{2C42D06A-5B9C-C039-E6D5-CFE07ACC4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9161" y="5009745"/>
            <a:ext cx="914400" cy="914400"/>
          </a:xfrm>
          <a:prstGeom prst="rect">
            <a:avLst/>
          </a:prstGeom>
        </p:spPr>
      </p:pic>
      <p:pic>
        <p:nvPicPr>
          <p:cNvPr id="15" name="Graphic 10" descr="Envelope outline">
            <a:extLst>
              <a:ext uri="{FF2B5EF4-FFF2-40B4-BE49-F238E27FC236}">
                <a16:creationId xmlns:a16="http://schemas.microsoft.com/office/drawing/2014/main" id="{01786A5B-B19F-B1C7-EACC-5CC251A16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719" y="20450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7280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C926-FA2A-41C3-C0BB-6C63A847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 Specification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7DAF1-CE00-6815-337C-EA63CB6C9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5503045"/>
          </a:xfrm>
        </p:spPr>
        <p:txBody>
          <a:bodyPr/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"type": "function",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"function":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"name": "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get_weather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"description": "Retrieves current weather for the given location.",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"strict": true,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"parameters":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"type": "object",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"properties":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"location":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"type": "string",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"description": "City and country e.g. Bogotá, Colombia"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"units":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"type": ["string", "null"],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</a:t>
            </a:r>
            <a:r>
              <a:rPr lang="en-US" sz="1200" dirty="0" err="1">
                <a:latin typeface="Consolas" panose="020B0609020204030204" pitchFamily="49" charset="0"/>
              </a:rPr>
              <a:t>enum</a:t>
            </a:r>
            <a:r>
              <a:rPr lang="en-US" sz="1200" dirty="0">
                <a:latin typeface="Consolas" panose="020B0609020204030204" pitchFamily="49" charset="0"/>
              </a:rPr>
              <a:t>": ["</a:t>
            </a:r>
            <a:r>
              <a:rPr lang="en-US" sz="1200" dirty="0" err="1">
                <a:latin typeface="Consolas" panose="020B0609020204030204" pitchFamily="49" charset="0"/>
              </a:rPr>
              <a:t>celsius</a:t>
            </a:r>
            <a:r>
              <a:rPr lang="en-US" sz="1200" dirty="0">
                <a:latin typeface="Consolas" panose="020B0609020204030204" pitchFamily="49" charset="0"/>
              </a:rPr>
              <a:t>", "</a:t>
            </a:r>
            <a:r>
              <a:rPr lang="en-US" sz="1200" dirty="0" err="1">
                <a:latin typeface="Consolas" panose="020B0609020204030204" pitchFamily="49" charset="0"/>
              </a:rPr>
              <a:t>fahrenheit</a:t>
            </a:r>
            <a:r>
              <a:rPr lang="en-US" sz="1200" dirty="0">
                <a:latin typeface="Consolas" panose="020B0609020204030204" pitchFamily="49" charset="0"/>
              </a:rPr>
              <a:t>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    "description": "Units the temperature will be returned in."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},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"required": ["location", "units"],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"</a:t>
            </a:r>
            <a:r>
              <a:rPr lang="en-US" sz="1200" dirty="0" err="1">
                <a:latin typeface="Consolas" panose="020B0609020204030204" pitchFamily="49" charset="0"/>
              </a:rPr>
              <a:t>additionalProperties</a:t>
            </a:r>
            <a:r>
              <a:rPr lang="en-US" sz="1200" dirty="0">
                <a:latin typeface="Consolas" panose="020B0609020204030204" pitchFamily="49" charset="0"/>
              </a:rPr>
              <a:t>": false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67287413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E10759-A281-377A-70EA-B7F93122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AC73-789C-3124-D18B-AB89A036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</a:t>
            </a:r>
            <a:endParaRPr lang="de-DE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3F712260-5DB8-84B9-B398-88055DD038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3" name="Grafik 1">
            <a:extLst>
              <a:ext uri="{FF2B5EF4-FFF2-40B4-BE49-F238E27FC236}">
                <a16:creationId xmlns:a16="http://schemas.microsoft.com/office/drawing/2014/main" id="{A62ECF53-0ECC-F82E-8E52-4D45024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9613" y="3765932"/>
            <a:ext cx="1209569" cy="807387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75FCA1-D11C-4128-A3A2-25666E7BF148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1861930" y="4177246"/>
            <a:ext cx="3357770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C1AE6B7-0694-AF58-DAE6-B7AB4009884C}"/>
              </a:ext>
            </a:extLst>
          </p:cNvPr>
          <p:cNvSpPr txBox="1"/>
          <p:nvPr/>
        </p:nvSpPr>
        <p:spPr>
          <a:xfrm>
            <a:off x="586880" y="457331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Prompt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9FC80E-4D56-D389-143D-A59CB31E7F3F}"/>
              </a:ext>
            </a:extLst>
          </p:cNvPr>
          <p:cNvSpPr/>
          <p:nvPr/>
        </p:nvSpPr>
        <p:spPr>
          <a:xfrm>
            <a:off x="7868877" y="2311842"/>
            <a:ext cx="3169015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/>
              <a:t>LichtPlugin</a:t>
            </a:r>
            <a:endParaRPr lang="de-DE" u="sng" dirty="0"/>
          </a:p>
          <a:p>
            <a:pPr algn="ctr"/>
            <a:r>
              <a:rPr lang="de-DE" dirty="0" err="1"/>
              <a:t>SwitchLightOn</a:t>
            </a:r>
            <a:r>
              <a:rPr lang="de-DE" dirty="0"/>
              <a:t>(</a:t>
            </a:r>
            <a:r>
              <a:rPr lang="de-DE" dirty="0" err="1"/>
              <a:t>color</a:t>
            </a:r>
            <a:r>
              <a:rPr lang="de-DE" dirty="0"/>
              <a:t>)</a:t>
            </a:r>
          </a:p>
          <a:p>
            <a:pPr algn="ctr"/>
            <a:r>
              <a:rPr lang="de-DE" dirty="0" err="1"/>
              <a:t>SwitychLightOff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8679B4-B299-88EA-19A2-4C2BC476505E}"/>
              </a:ext>
            </a:extLst>
          </p:cNvPr>
          <p:cNvSpPr/>
          <p:nvPr/>
        </p:nvSpPr>
        <p:spPr>
          <a:xfrm>
            <a:off x="7843175" y="3672957"/>
            <a:ext cx="3169014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/>
              <a:t>WeatherPlugin</a:t>
            </a:r>
            <a:endParaRPr lang="de-DE" u="sng" dirty="0"/>
          </a:p>
          <a:p>
            <a:pPr algn="ctr"/>
            <a:r>
              <a:rPr lang="de-DE" dirty="0" err="1"/>
              <a:t>ShowInfo</a:t>
            </a:r>
            <a:r>
              <a:rPr lang="de-DE" dirty="0"/>
              <a:t>(Location)</a:t>
            </a:r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31747FA-605E-C7C3-B00D-D8779A86D31A}"/>
              </a:ext>
            </a:extLst>
          </p:cNvPr>
          <p:cNvSpPr/>
          <p:nvPr/>
        </p:nvSpPr>
        <p:spPr>
          <a:xfrm>
            <a:off x="5219700" y="3810826"/>
            <a:ext cx="876300" cy="7328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AI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9A49F2-2665-C1B4-C0B6-E4D1A04EB99C}"/>
              </a:ext>
            </a:extLst>
          </p:cNvPr>
          <p:cNvCxnSpPr>
            <a:cxnSpLocks/>
            <a:stCxn id="36" idx="1"/>
            <a:endCxn id="38" idx="7"/>
          </p:cNvCxnSpPr>
          <p:nvPr/>
        </p:nvCxnSpPr>
        <p:spPr>
          <a:xfrm flipH="1">
            <a:off x="5967669" y="2832156"/>
            <a:ext cx="1901208" cy="1085992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3989DD-75B9-36B2-3E1E-CC638A844087}"/>
              </a:ext>
            </a:extLst>
          </p:cNvPr>
          <p:cNvCxnSpPr>
            <a:cxnSpLocks/>
            <a:stCxn id="37" idx="1"/>
            <a:endCxn id="38" idx="6"/>
          </p:cNvCxnSpPr>
          <p:nvPr/>
        </p:nvCxnSpPr>
        <p:spPr>
          <a:xfrm flipH="1" flipV="1">
            <a:off x="6096000" y="4177246"/>
            <a:ext cx="1747175" cy="16025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94B34CA-3B4D-A50D-C7E9-3F354A251450}"/>
              </a:ext>
            </a:extLst>
          </p:cNvPr>
          <p:cNvCxnSpPr>
            <a:cxnSpLocks/>
            <a:endCxn id="38" idx="5"/>
          </p:cNvCxnSpPr>
          <p:nvPr/>
        </p:nvCxnSpPr>
        <p:spPr>
          <a:xfrm flipH="1" flipV="1">
            <a:off x="5967669" y="4436343"/>
            <a:ext cx="1875506" cy="1043330"/>
          </a:xfrm>
          <a:prstGeom prst="straightConnector1">
            <a:avLst/>
          </a:prstGeom>
          <a:ln w="31750">
            <a:solidFill>
              <a:srgbClr val="00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C1FB74-8E09-2776-9428-6B474B1B36CB}"/>
              </a:ext>
            </a:extLst>
          </p:cNvPr>
          <p:cNvSpPr txBox="1"/>
          <p:nvPr/>
        </p:nvSpPr>
        <p:spPr>
          <a:xfrm>
            <a:off x="3189257" y="3757086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(1)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E025C-383A-14CD-0343-F7F4A9038904}"/>
              </a:ext>
            </a:extLst>
          </p:cNvPr>
          <p:cNvSpPr txBox="1"/>
          <p:nvPr/>
        </p:nvSpPr>
        <p:spPr>
          <a:xfrm>
            <a:off x="3184071" y="4487215"/>
            <a:ext cx="57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(2)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9B3DA30-0991-B810-2A7F-8125AC836C35}"/>
              </a:ext>
            </a:extLst>
          </p:cNvPr>
          <p:cNvCxnSpPr>
            <a:cxnSpLocks/>
          </p:cNvCxnSpPr>
          <p:nvPr/>
        </p:nvCxnSpPr>
        <p:spPr>
          <a:xfrm>
            <a:off x="1739182" y="4492838"/>
            <a:ext cx="3241795" cy="0"/>
          </a:xfrm>
          <a:prstGeom prst="straightConnector1">
            <a:avLst/>
          </a:prstGeom>
          <a:ln w="31750">
            <a:solidFill>
              <a:srgbClr val="00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D61DD15-0A25-0823-14D9-15388026E8D4}"/>
              </a:ext>
            </a:extLst>
          </p:cNvPr>
          <p:cNvSpPr/>
          <p:nvPr/>
        </p:nvSpPr>
        <p:spPr>
          <a:xfrm>
            <a:off x="7843175" y="5034071"/>
            <a:ext cx="3169014" cy="10406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My Database</a:t>
            </a:r>
            <a:endParaRPr lang="en-US" dirty="0"/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6A9C44BC-B9FD-BE15-DA68-6313423F58E4}"/>
              </a:ext>
            </a:extLst>
          </p:cNvPr>
          <p:cNvSpPr/>
          <p:nvPr/>
        </p:nvSpPr>
        <p:spPr>
          <a:xfrm>
            <a:off x="1188589" y="2223319"/>
            <a:ext cx="4405095" cy="617049"/>
          </a:xfrm>
          <a:prstGeom prst="wedgeRectCallout">
            <a:avLst>
              <a:gd name="adj1" fmla="val -3217"/>
              <a:gd name="adj2" fmla="val 155720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User</a:t>
            </a:r>
            <a:r>
              <a:rPr lang="de-DE" dirty="0">
                <a:solidFill>
                  <a:schemeClr val="tx1"/>
                </a:solidFill>
              </a:rPr>
              <a:t>: Switch on the light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4B7B5CF8-4FC1-3E0B-5BCB-BB8F39DBD172}"/>
              </a:ext>
            </a:extLst>
          </p:cNvPr>
          <p:cNvSpPr/>
          <p:nvPr/>
        </p:nvSpPr>
        <p:spPr>
          <a:xfrm>
            <a:off x="2368088" y="5553561"/>
            <a:ext cx="3759790" cy="945110"/>
          </a:xfrm>
          <a:prstGeom prst="wedgeRectCallout">
            <a:avLst>
              <a:gd name="adj1" fmla="val -24979"/>
              <a:gd name="adj2" fmla="val -117022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Tool:  </a:t>
            </a:r>
            <a:r>
              <a:rPr lang="de-DE" b="1" i="1" dirty="0" err="1">
                <a:solidFill>
                  <a:schemeClr val="tx1"/>
                </a:solidFill>
              </a:rPr>
              <a:t>SwitchLightOn</a:t>
            </a:r>
            <a:r>
              <a:rPr lang="de-DE" dirty="0">
                <a:solidFill>
                  <a:schemeClr val="tx1"/>
                </a:solidFill>
              </a:rPr>
              <a:t>(</a:t>
            </a:r>
            <a:r>
              <a:rPr lang="de-DE" i="1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8" name="Graphic 47" descr="Envelope outline">
            <a:extLst>
              <a:ext uri="{FF2B5EF4-FFF2-40B4-BE49-F238E27FC236}">
                <a16:creationId xmlns:a16="http://schemas.microsoft.com/office/drawing/2014/main" id="{C74C6D5E-B0D5-6D65-B380-300BDA3D4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3478" y="5584271"/>
            <a:ext cx="914400" cy="914400"/>
          </a:xfrm>
          <a:prstGeom prst="rect">
            <a:avLst/>
          </a:prstGeom>
        </p:spPr>
      </p:pic>
      <p:pic>
        <p:nvPicPr>
          <p:cNvPr id="49" name="Graphic 10" descr="Envelope outline">
            <a:extLst>
              <a:ext uri="{FF2B5EF4-FFF2-40B4-BE49-F238E27FC236}">
                <a16:creationId xmlns:a16="http://schemas.microsoft.com/office/drawing/2014/main" id="{22BA903F-F857-F35C-C2C1-E5B8D5CCB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992" y="2195068"/>
            <a:ext cx="700484" cy="7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6316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AC5E-E366-62D1-7176-08275B86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</a:t>
            </a:r>
            <a:endParaRPr lang="de-D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9129B3-C426-4BB5-A035-784F46F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9" y="900502"/>
            <a:ext cx="115538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8749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9C39-85DD-285F-1742-E1F53F0B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4D7A1-07B5-736F-169E-D3D2C5AE56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4478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196D48A7-9118-4EF8-A0B8-2AC9DFC1F8E2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4C22E9C1-8B86-4435-B7C1-3F0CD64ED46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GenerationTime xmlns="804751ba-60e0-4191-9865-d7e5284c1d69" xsi:nil="true"/>
    <MediaServiceEventHashCode xmlns="804751ba-60e0-4191-9865-d7e5284c1d69" xsi:nil="true"/>
    <MediaServiceOCR xmlns="804751ba-60e0-4191-9865-d7e5284c1d69" xsi:nil="true"/>
    <MediaServiceMetadata xmlns="804751ba-60e0-4191-9865-d7e5284c1d69" xsi:nil="true"/>
    <MediaServiceDateTaken xmlns="804751ba-60e0-4191-9865-d7e5284c1d69" xsi:nil="true"/>
    <MediaServiceFastMetadata xmlns="804751ba-60e0-4191-9865-d7e5284c1d69" xsi:nil="true"/>
    <lcf76f155ced4ddcb4097134ff3c332f xmlns="804751ba-60e0-4191-9865-d7e5284c1d69">
      <Terms xmlns="http://schemas.microsoft.com/office/infopath/2007/PartnerControls"/>
    </lcf76f155ced4ddcb4097134ff3c332f>
    <Number xmlns="804751ba-60e0-4191-9865-d7e5284c1d69" xsi:nil="true"/>
    <Time xmlns="804751ba-60e0-4191-9865-d7e5284c1d69" xsi:nil="true"/>
    <content xmlns="804751ba-60e0-4191-9865-d7e5284c1d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dcmitype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913b567d-4c83-4181-a45c-f04ce7e1b72e"/>
    <ds:schemaRef ds:uri="804751ba-60e0-4191-9865-d7e5284c1d69"/>
  </ds:schemaRefs>
</ds:datastoreItem>
</file>

<file path=customXml/itemProps2.xml><?xml version="1.0" encoding="utf-8"?>
<ds:datastoreItem xmlns:ds="http://schemas.openxmlformats.org/officeDocument/2006/customXml" ds:itemID="{B8BDBCC3-0E3D-4ED4-BA7F-B34A290841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04751ba-60e0-4191-9865-d7e5284c1d69"/>
    <ds:schemaRef ds:uri="913b567d-4c83-4181-a45c-f04ce7e1b72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DAENET Presentation Template 2026</Template>
  <TotalTime>0</TotalTime>
  <Words>457</Words>
  <Application>Microsoft Office PowerPoint</Application>
  <PresentationFormat>Widescreen</PresentationFormat>
  <Paragraphs>112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Consolas</vt:lpstr>
      <vt:lpstr>Segoe Sans Display Semibold</vt:lpstr>
      <vt:lpstr>Segoe UI</vt:lpstr>
      <vt:lpstr>Segoe UI Semibold</vt:lpstr>
      <vt:lpstr>Wingdings</vt:lpstr>
      <vt:lpstr>Microsoft Build 16:9 Template Light</vt:lpstr>
      <vt:lpstr>Microsoft Build 16:9 Template Dark</vt:lpstr>
      <vt:lpstr>Die neue Perspektive Azure Management mit KI  neu denken  </vt:lpstr>
      <vt:lpstr>AGENDA</vt:lpstr>
      <vt:lpstr>Azure Management</vt:lpstr>
      <vt:lpstr>Management Neu Denken?</vt:lpstr>
      <vt:lpstr>MCP Model Context Protocol</vt:lpstr>
      <vt:lpstr>MCP</vt:lpstr>
      <vt:lpstr>Why MCP and how does it work?</vt:lpstr>
      <vt:lpstr>Azure MCP Server</vt:lpstr>
      <vt:lpstr>DEMO Azure MCP Server</vt:lpstr>
      <vt:lpstr>The CLAW Approach Command Line Agent Workflow</vt:lpstr>
      <vt:lpstr>CLAW</vt:lpstr>
      <vt:lpstr>DEMO CLAW</vt:lpstr>
      <vt:lpstr>Die neue Perspektive  DANKE  </vt:lpstr>
      <vt:lpstr>User -&gt; Model Chat iteraction</vt:lpstr>
      <vt:lpstr>Function Calling Specification</vt:lpstr>
      <vt:lpstr>Function Calling</vt:lpstr>
      <vt:lpstr>Function Calling</vt:lpstr>
      <vt:lpstr>PowerPoint Presentation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Build 2026</dc:subject>
  <dc:creator>Damir Dobric</dc:creator>
  <cp:keywords>Build 2026</cp:keywords>
  <dc:description/>
  <cp:lastModifiedBy>Damir Dobric</cp:lastModifiedBy>
  <cp:revision>22</cp:revision>
  <cp:lastPrinted>2023-02-15T20:48:24Z</cp:lastPrinted>
  <dcterms:created xsi:type="dcterms:W3CDTF">2026-06-22T10:24:51Z</dcterms:created>
  <dcterms:modified xsi:type="dcterms:W3CDTF">2026-06-30T10:20:13Z</dcterms:modified>
  <cp:category>Build 2026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