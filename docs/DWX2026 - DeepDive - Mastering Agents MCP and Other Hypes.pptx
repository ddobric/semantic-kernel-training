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30"/>
  </p:notesMasterIdLst>
  <p:handoutMasterIdLst>
    <p:handoutMasterId r:id="rId31"/>
  </p:handoutMasterIdLst>
  <p:sldIdLst>
    <p:sldId id="257" r:id="rId6"/>
    <p:sldId id="308" r:id="rId7"/>
    <p:sldId id="280" r:id="rId8"/>
    <p:sldId id="284" r:id="rId9"/>
    <p:sldId id="290" r:id="rId10"/>
    <p:sldId id="288" r:id="rId11"/>
    <p:sldId id="296" r:id="rId12"/>
    <p:sldId id="285" r:id="rId13"/>
    <p:sldId id="283" r:id="rId14"/>
    <p:sldId id="313" r:id="rId15"/>
    <p:sldId id="286" r:id="rId16"/>
    <p:sldId id="297" r:id="rId17"/>
    <p:sldId id="293" r:id="rId18"/>
    <p:sldId id="299" r:id="rId19"/>
    <p:sldId id="298" r:id="rId20"/>
    <p:sldId id="307" r:id="rId21"/>
    <p:sldId id="300" r:id="rId22"/>
    <p:sldId id="301" r:id="rId23"/>
    <p:sldId id="302" r:id="rId24"/>
    <p:sldId id="303" r:id="rId25"/>
    <p:sldId id="304" r:id="rId26"/>
    <p:sldId id="309" r:id="rId27"/>
    <p:sldId id="311" r:id="rId28"/>
    <p:sldId id="312" r:id="rId2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0B4B5A-9A9D-4FD7-93BF-CECD3706A649}">
          <p14:sldIdLst>
            <p14:sldId id="257"/>
            <p14:sldId id="308"/>
          </p14:sldIdLst>
        </p14:section>
        <p14:section name="COMPLETIONS" id="{BD664E15-1FA8-439C-A199-522FF9668C39}">
          <p14:sldIdLst>
            <p14:sldId id="280"/>
            <p14:sldId id="284"/>
          </p14:sldIdLst>
        </p14:section>
        <p14:section name="AGENTS" id="{4AB66A61-099C-4F61-87BF-62D7AF764DEF}">
          <p14:sldIdLst>
            <p14:sldId id="290"/>
            <p14:sldId id="288"/>
            <p14:sldId id="296"/>
          </p14:sldIdLst>
        </p14:section>
        <p14:section name="RAG" id="{E44F3A37-3003-4361-9777-BDBC1D06F7CA}">
          <p14:sldIdLst>
            <p14:sldId id="285"/>
            <p14:sldId id="283"/>
            <p14:sldId id="313"/>
            <p14:sldId id="286"/>
          </p14:sldIdLst>
        </p14:section>
        <p14:section name="FUNCTION CALLING" id="{A29259C6-B26D-4375-B312-ACD7D9E050D1}">
          <p14:sldIdLst>
            <p14:sldId id="297"/>
            <p14:sldId id="293"/>
            <p14:sldId id="299"/>
            <p14:sldId id="298"/>
            <p14:sldId id="307"/>
            <p14:sldId id="300"/>
          </p14:sldIdLst>
        </p14:section>
        <p14:section name="MCP" id="{83209DF9-E029-42FB-BAA8-0E18F238F77C}">
          <p14:sldIdLst>
            <p14:sldId id="301"/>
            <p14:sldId id="302"/>
            <p14:sldId id="303"/>
            <p14:sldId id="304"/>
            <p14:sldId id="309"/>
          </p14:sldIdLst>
        </p14:section>
        <p14:section name="CLAW" id="{065DA38A-FF95-4605-B6C3-CC4D8608D21C}">
          <p14:sldIdLst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EAA957-32DD-A8CA-8FB4-DA9D6ACF02A8}" name="Craig Loewen" initials="" userId="S::crloewen@microsoft.com::f671ca36-6572-430f-adbc-5de0d3a9fd90" providerId="AD"/>
  <p188:author id="{893CC38B-D2B5-B602-F03D-9FA5D86B6135}" name="Jianye Lu" initials="JL" userId="S::jianyelu@microsoft.com::7c0120d9-6860-4328-97bf-00926befcb6b" providerId="AD"/>
  <p188:author id="{BCEE0DBD-6189-2E6B-5D68-8C29FD3B679A}" name="Bryan Osotio" initials="BO" userId="S::bryano@silverfoxprod.com::c8637d84-43de-46a3-8341-5dfe5659269c" providerId="AD"/>
  <p188:author id="{F52BD2CA-862A-8922-5BA3-64A1C5220EE0}" name="Clint Rutkas" initials="CR" userId="S::crutkas@microsoft.com::d6f60daf-519d-4010-8efb-371636ce949f" providerId="AD"/>
  <p188:author id="{6AFA61D8-796F-555E-A395-B33F90AAF99E}" name="Monica Lueder" initials="ML" userId="S::monical@microsoft.com::75969e72-ba9c-4e32-a4ac-c8f3aeff9ba2" providerId="AD"/>
  <p188:author id="{53029AF5-0023-A208-73B0-B74912BCD0EE}" name="Kayla Cinnamon" initials="KC" userId="S::cinnamon@microsoft.com::42c7edfe-6723-4966-bdec-1c5017e60bc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FF"/>
    <a:srgbClr val="060702"/>
    <a:srgbClr val="0078D4"/>
    <a:srgbClr val="D7D2CB"/>
    <a:srgbClr val="E8E6DF"/>
    <a:srgbClr val="E1D3C7"/>
    <a:srgbClr val="4EFFFE"/>
    <a:srgbClr val="9BF00E"/>
    <a:srgbClr val="D59DFF"/>
    <a:srgbClr val="7F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66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6/30/2026 12:20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8DAAD-3934-518B-F62A-B32024044E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BE5CB-6A38-415E-A601-C5DE328E214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6/30/2026 12:20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B2CB-E17F-657B-15B3-DB0E98286C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4922" y="1948409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D1683EB-8052-DD8D-9241-2E790290F0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44921" y="3485028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9874B-A7F6-D873-41D3-03DCB02A21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921" y="152120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68319-9987-2C60-6DCC-D542B8BDEC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199" y="318281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40C98-8BA3-8FE1-8D1D-CD52B65611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7C16A-CB57-4B52-16F1-46EC9146B9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445" y="601180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1E400-7BEA-5DAA-C9FD-6AB535DFD1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77660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15E9D-1B9A-F9D6-AAFD-87240CDC5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F0E3A-8E11-B9E6-77DA-936F67762C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BDD84-7211-1C60-C033-22B94D8830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29F23-BA9E-B0CC-0E0B-57A879219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B869F-282F-B18A-F8BC-B8285FB6D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69B6A-11F3-C1B6-1EDA-3135281B3E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3ABDE-B02A-3F1E-AA58-463ED4C21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741BF-D9C2-1181-68EA-8EDB6ACA62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D453B-3073-58F7-694F-9512BD804C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2B67C-E6F5-5E0B-D0DD-351EF9355C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9DBEA-5037-3989-110D-63F3EC5C97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273912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B811E0-B33A-BBFB-1572-0865CD973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84200" y="1746705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5239529-9FBA-2DF5-0EC8-B9A8A03AB7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283323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BE55F-45EA-0EF1-794A-A0D4F6E51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E24C2-C0E0-7ABB-6D28-04A86D3AB6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200" y="31190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581CD-B69D-FD84-E4CE-B6199EF907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24797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490CC-4FE3-700D-548F-33BAEEB48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480447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82783-BC42-5658-D5AE-BED6E67358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7A47C-950A-D08C-7CA1-B83467EF7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88EA-BB6B-9CF1-E8C9-8C708AD2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D17DB-4DD6-812E-8402-8C84B933F6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A37A-89E1-05D3-BA84-39C314D9EB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D015C-464B-083D-FE44-A80C4C7E9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5FE20-5D0F-5148-33CD-21E54ECBC0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EB6C2-2784-3909-1112-A4CB02FD5E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C75CB-C95D-E17E-E33C-9C75ADB840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8A81E-1AFE-CB99-6564-E7EEDE9AA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A4C18-717E-1E62-CFF9-A4ED2F889F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1AE2D-0727-6228-C84F-7ADA770D4A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9120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11A24-B0D0-EA80-E49A-CDCA025B3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47" Type="http://schemas.openxmlformats.org/officeDocument/2006/relationships/slideLayout" Target="../slideLayouts/slideLayout91.xml"/><Relationship Id="rId50" Type="http://schemas.openxmlformats.org/officeDocument/2006/relationships/image" Target="../media/image1.svg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Relationship Id="rId48" Type="http://schemas.openxmlformats.org/officeDocument/2006/relationships/slideLayout" Target="../slideLayouts/slideLayout92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85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608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70" r:id="rId19"/>
    <p:sldLayoutId id="2147485471" r:id="rId20"/>
    <p:sldLayoutId id="2147485472" r:id="rId21"/>
    <p:sldLayoutId id="2147485473" r:id="rId22"/>
    <p:sldLayoutId id="2147485474" r:id="rId23"/>
    <p:sldLayoutId id="2147485475" r:id="rId24"/>
    <p:sldLayoutId id="2147485476" r:id="rId25"/>
    <p:sldLayoutId id="2147485477" r:id="rId26"/>
    <p:sldLayoutId id="2147485478" r:id="rId27"/>
    <p:sldLayoutId id="2147485479" r:id="rId28"/>
    <p:sldLayoutId id="2147485480" r:id="rId29"/>
    <p:sldLayoutId id="2147485481" r:id="rId30"/>
    <p:sldLayoutId id="2147485484" r:id="rId31"/>
    <p:sldLayoutId id="2147485485" r:id="rId32"/>
    <p:sldLayoutId id="2147485486" r:id="rId33"/>
    <p:sldLayoutId id="2147485487" r:id="rId34"/>
    <p:sldLayoutId id="2147485488" r:id="rId35"/>
    <p:sldLayoutId id="2147485489" r:id="rId36"/>
    <p:sldLayoutId id="2147485490" r:id="rId37"/>
    <p:sldLayoutId id="2147485491" r:id="rId38"/>
    <p:sldLayoutId id="2147485492" r:id="rId39"/>
    <p:sldLayoutId id="2147485493" r:id="rId40"/>
    <p:sldLayoutId id="2147485494" r:id="rId41"/>
    <p:sldLayoutId id="2147485495" r:id="rId42"/>
    <p:sldLayoutId id="2147485496" r:id="rId43"/>
    <p:sldLayoutId id="2147485603" r:id="rId44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9" r:id="rId6"/>
    <p:sldLayoutId id="2147485560" r:id="rId7"/>
    <p:sldLayoutId id="2147485561" r:id="rId8"/>
    <p:sldLayoutId id="2147485562" r:id="rId9"/>
    <p:sldLayoutId id="2147485563" r:id="rId10"/>
    <p:sldLayoutId id="2147485564" r:id="rId11"/>
    <p:sldLayoutId id="2147485565" r:id="rId12"/>
    <p:sldLayoutId id="2147485566" r:id="rId13"/>
    <p:sldLayoutId id="2147485567" r:id="rId14"/>
    <p:sldLayoutId id="2147485568" r:id="rId15"/>
    <p:sldLayoutId id="2147485569" r:id="rId16"/>
    <p:sldLayoutId id="2147485570" r:id="rId17"/>
    <p:sldLayoutId id="2147485571" r:id="rId18"/>
    <p:sldLayoutId id="2147485572" r:id="rId19"/>
    <p:sldLayoutId id="2147485573" r:id="rId20"/>
    <p:sldLayoutId id="2147485574" r:id="rId21"/>
    <p:sldLayoutId id="2147485575" r:id="rId22"/>
    <p:sldLayoutId id="2147485576" r:id="rId23"/>
    <p:sldLayoutId id="2147485577" r:id="rId24"/>
    <p:sldLayoutId id="2147485578" r:id="rId25"/>
    <p:sldLayoutId id="2147485579" r:id="rId26"/>
    <p:sldLayoutId id="2147485580" r:id="rId27"/>
    <p:sldLayoutId id="2147485581" r:id="rId28"/>
    <p:sldLayoutId id="2147485582" r:id="rId29"/>
    <p:sldLayoutId id="2147485583" r:id="rId30"/>
    <p:sldLayoutId id="2147485584" r:id="rId31"/>
    <p:sldLayoutId id="2147485585" r:id="rId32"/>
    <p:sldLayoutId id="2147485586" r:id="rId33"/>
    <p:sldLayoutId id="2147485587" r:id="rId34"/>
    <p:sldLayoutId id="2147485588" r:id="rId35"/>
    <p:sldLayoutId id="2147485589" r:id="rId36"/>
    <p:sldLayoutId id="2147485590" r:id="rId37"/>
    <p:sldLayoutId id="2147485591" r:id="rId38"/>
    <p:sldLayoutId id="2147485592" r:id="rId39"/>
    <p:sldLayoutId id="2147485593" r:id="rId40"/>
    <p:sldLayoutId id="2147485594" r:id="rId41"/>
    <p:sldLayoutId id="2147485595" r:id="rId42"/>
    <p:sldLayoutId id="2147485596" r:id="rId43"/>
    <p:sldLayoutId id="2147485597" r:id="rId44"/>
    <p:sldLayoutId id="2147485598" r:id="rId45"/>
    <p:sldLayoutId id="2147485599" r:id="rId46"/>
    <p:sldLayoutId id="2147485600" r:id="rId47"/>
    <p:sldLayoutId id="2147485602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arxiv.org/abs/2005.11401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modelcontextprotocol.io/specification/2025-03-26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895FBF-C7A9-4063-C51E-68A83FCB7D2A}"/>
              </a:ext>
            </a:extLst>
          </p:cNvPr>
          <p:cNvSpPr/>
          <p:nvPr/>
        </p:nvSpPr>
        <p:spPr bwMode="auto">
          <a:xfrm>
            <a:off x="451785" y="4097396"/>
            <a:ext cx="6564009" cy="2049419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A86AB6-4520-27A5-D83A-1177D5A5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1" y="2541396"/>
            <a:ext cx="9661620" cy="1261884"/>
          </a:xfrm>
        </p:spPr>
        <p:txBody>
          <a:bodyPr/>
          <a:lstStyle/>
          <a:p>
            <a:r>
              <a:rPr lang="en-US" sz="1800" dirty="0" err="1"/>
              <a:t>DeepDive</a:t>
            </a:r>
            <a:br>
              <a:rPr lang="en-US" sz="3200" dirty="0"/>
            </a:br>
            <a:r>
              <a:rPr lang="en-US" sz="3200" dirty="0"/>
              <a:t>Mastering Agents, MCP &amp; Other Hypes</a:t>
            </a:r>
            <a:br>
              <a:rPr lang="en-US" sz="3200" dirty="0"/>
            </a:br>
            <a:endParaRPr lang="de-DE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40A766-5461-A1F2-A10C-B12C4B04A3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61" y="1000773"/>
            <a:ext cx="5577839" cy="27699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68CAEFE-3D17-AFD2-984E-8799BF57A500}"/>
              </a:ext>
            </a:extLst>
          </p:cNvPr>
          <p:cNvSpPr txBox="1">
            <a:spLocks/>
          </p:cNvSpPr>
          <p:nvPr/>
        </p:nvSpPr>
        <p:spPr>
          <a:xfrm>
            <a:off x="607174" y="4490852"/>
            <a:ext cx="9144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/>
              <a:t>Dr. Damir Dobric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77B9A-C974-1492-6257-30F9BF11A956}"/>
              </a:ext>
            </a:extLst>
          </p:cNvPr>
          <p:cNvSpPr txBox="1"/>
          <p:nvPr/>
        </p:nvSpPr>
        <p:spPr>
          <a:xfrm>
            <a:off x="518161" y="4872844"/>
            <a:ext cx="681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400" dirty="0"/>
              <a:t>Lead Software Architect daenet GmbH / ACP Digital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Microsoft Regional Director, 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Most Valuable Professional: AI</a:t>
            </a:r>
            <a:endParaRPr lang="en-DE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805181-A5EE-6A94-001B-907409E6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2" y="4279369"/>
            <a:ext cx="1813564" cy="17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08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7DE9A-D529-4F09-E5A6-4489272D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3A0D-1E6E-AD72-6C29-817837EF5C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050340"/>
          </a:xfrm>
        </p:spPr>
        <p:txBody>
          <a:bodyPr/>
          <a:lstStyle/>
          <a:p>
            <a:r>
              <a:rPr lang="en-US" dirty="0"/>
              <a:t>Models and Text generation</a:t>
            </a:r>
          </a:p>
          <a:p>
            <a:r>
              <a:rPr lang="en-US" dirty="0"/>
              <a:t>Microsoft Agent Framework</a:t>
            </a:r>
          </a:p>
          <a:p>
            <a:r>
              <a:rPr lang="en-US" dirty="0"/>
              <a:t>RAG</a:t>
            </a:r>
          </a:p>
          <a:p>
            <a:r>
              <a:rPr lang="en-US" dirty="0"/>
              <a:t>Functions &amp; Tools</a:t>
            </a:r>
          </a:p>
          <a:p>
            <a:r>
              <a:rPr lang="en-US" dirty="0"/>
              <a:t>MCP</a:t>
            </a:r>
          </a:p>
          <a:p>
            <a:r>
              <a:rPr lang="en-US" dirty="0"/>
              <a:t>Build your custom CLAW</a:t>
            </a:r>
          </a:p>
          <a:p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48717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9E72-13F0-47E8-AF37-EEB8F15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6E1AB-BCAE-E6D6-ADCB-136DEE2B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39" y="2217813"/>
            <a:ext cx="7758861" cy="830997"/>
          </a:xfrm>
        </p:spPr>
        <p:txBody>
          <a:bodyPr/>
          <a:lstStyle/>
          <a:p>
            <a:r>
              <a:rPr lang="en-US" sz="6000" dirty="0"/>
              <a:t>COMPLETIONS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220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F8358F-8353-BD40-C035-BD295A46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590025"/>
            <a:ext cx="6400800" cy="941796"/>
          </a:xfrm>
        </p:spPr>
        <p:txBody>
          <a:bodyPr/>
          <a:lstStyle/>
          <a:p>
            <a:r>
              <a:rPr lang="en-US" dirty="0"/>
              <a:t>Completing Text</a:t>
            </a:r>
            <a:br>
              <a:rPr lang="en-US" dirty="0"/>
            </a:br>
            <a:r>
              <a:rPr lang="en-US" sz="2800" dirty="0"/>
              <a:t>Under the hub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B9628-B518-865A-A510-DEED21EDE4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77319"/>
            <a:ext cx="6400800" cy="17235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C#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OpenAI </a:t>
            </a:r>
            <a:r>
              <a:rPr lang="en-US" sz="2400" dirty="0" err="1"/>
              <a:t>nuget</a:t>
            </a:r>
            <a:r>
              <a:rPr lang="en-US" sz="2400" dirty="0"/>
              <a:t>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Executing </a:t>
            </a:r>
            <a:r>
              <a:rPr lang="en-US" sz="2400" dirty="0" err="1"/>
              <a:t>ChatCompletions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Presenting Probabilities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6DDFB-D405-2B0C-8D5D-51D8FF84A1D7}"/>
              </a:ext>
            </a:extLst>
          </p:cNvPr>
          <p:cNvSpPr txBox="1"/>
          <p:nvPr/>
        </p:nvSpPr>
        <p:spPr>
          <a:xfrm>
            <a:off x="585216" y="5782420"/>
            <a:ext cx="6811860" cy="90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</a:t>
            </a:r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OpenAI.Samples</a:t>
            </a:r>
            <a:r>
              <a:rPr lang="de-DE" dirty="0">
                <a:solidFill>
                  <a:schemeClr val="bg1"/>
                </a:solidFill>
              </a:rPr>
              <a:t> 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Sample: </a:t>
            </a:r>
            <a:r>
              <a:rPr lang="de-DE" dirty="0" err="1">
                <a:solidFill>
                  <a:schemeClr val="bg1"/>
                </a:solidFill>
              </a:rPr>
              <a:t>ChatCompletionsAsync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4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1C56-9ED0-5637-465B-6722B46F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63B0C-23A5-001F-FA21-AC63120C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2321004"/>
            <a:ext cx="9570884" cy="1107996"/>
          </a:xfrm>
        </p:spPr>
        <p:txBody>
          <a:bodyPr/>
          <a:lstStyle/>
          <a:p>
            <a:r>
              <a:rPr lang="en-US" sz="4400" dirty="0"/>
              <a:t>AGENTS</a:t>
            </a:r>
            <a:br>
              <a:rPr lang="en-US" sz="4400" dirty="0"/>
            </a:br>
            <a:r>
              <a:rPr lang="en-US" sz="3600" dirty="0"/>
              <a:t>Microsoft Agent Framework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006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EE794-8035-DDAA-02C6-F0AAD4B9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MAF Important Topics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5A52A-68F0-E7FA-A9E1-FFA390C8A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271939"/>
          </a:xfrm>
        </p:spPr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Single Agent and Service Connectors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Middleware Hooks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Agent Memory and Context Providers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Agent Workflows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Multi-Agent Orchestration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Declarative Agents and Workflows (YAML)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A2A, and MCP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Migration Assistants (Semantic Kernel and </a:t>
            </a:r>
            <a:r>
              <a:rPr lang="en-US" altLang="en-US" dirty="0" err="1">
                <a:latin typeface="Arial" panose="020B0604020202020204" pitchFamily="34" charset="0"/>
              </a:rPr>
              <a:t>AutoGen</a:t>
            </a:r>
            <a:r>
              <a:rPr lang="en-US" altLang="en-US" dirty="0">
                <a:latin typeface="Arial" panose="020B0604020202020204" pitchFamily="34" charset="0"/>
              </a:rPr>
              <a:t>)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24876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3787-D029-E042-1476-0B4C96E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E7C6B3-03F3-7B2D-DBE5-06E0ED45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04" y="2029867"/>
            <a:ext cx="6400800" cy="553998"/>
          </a:xfrm>
        </p:spPr>
        <p:txBody>
          <a:bodyPr/>
          <a:lstStyle/>
          <a:p>
            <a:r>
              <a:rPr lang="en-US" dirty="0"/>
              <a:t>MAF Demos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4B5A9-BDA3-CA69-73E6-AFC704ED78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04" y="3020974"/>
            <a:ext cx="6400800" cy="1107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Simple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Session and Multiturn</a:t>
            </a:r>
          </a:p>
          <a:p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F69DC-B7A1-42C5-5CF2-E8F8844BFCCB}"/>
              </a:ext>
            </a:extLst>
          </p:cNvPr>
          <p:cNvSpPr txBox="1"/>
          <p:nvPr/>
        </p:nvSpPr>
        <p:spPr>
          <a:xfrm>
            <a:off x="312574" y="5217246"/>
            <a:ext cx="6811860" cy="1178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Agents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AgentFrameworkSamples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1_HelloAgents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 err="1">
                <a:solidFill>
                  <a:schemeClr val="bg1"/>
                </a:solidFill>
              </a:rPr>
              <a:t>RunAsync</a:t>
            </a:r>
            <a:r>
              <a:rPr lang="de-DE" dirty="0">
                <a:solidFill>
                  <a:schemeClr val="bg1"/>
                </a:solidFill>
              </a:rPr>
              <a:t> {Run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 err="1">
                <a:solidFill>
                  <a:schemeClr val="bg1"/>
                </a:solidFill>
              </a:rPr>
              <a:t>without</a:t>
            </a:r>
            <a:r>
              <a:rPr lang="de-DE" dirty="0">
                <a:solidFill>
                  <a:schemeClr val="bg1"/>
                </a:solidFill>
              </a:rPr>
              <a:t> stream}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 err="1">
                <a:solidFill>
                  <a:schemeClr val="bg1"/>
                </a:solidFill>
              </a:rPr>
              <a:t>RunMultiturnAsync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9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CEB8-6AD6-48BD-39FD-2D358469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E84477-A03E-796A-7922-7861C4A0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1988606"/>
            <a:ext cx="9570884" cy="1440394"/>
          </a:xfrm>
        </p:spPr>
        <p:txBody>
          <a:bodyPr/>
          <a:lstStyle/>
          <a:p>
            <a:r>
              <a:rPr lang="en-US" sz="4400" dirty="0"/>
              <a:t>Retrieval Augmented Generation</a:t>
            </a:r>
            <a:br>
              <a:rPr lang="en-US" sz="6000" dirty="0"/>
            </a:br>
            <a:r>
              <a:rPr lang="en-US" sz="6000" dirty="0"/>
              <a:t>R A 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254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3F54-2995-E037-7270-A8DAC770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What is RAG?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5E600-10F1-1176-16A8-E1F905C9E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740" y="2510505"/>
            <a:ext cx="11018520" cy="2412968"/>
          </a:xfrm>
        </p:spPr>
        <p:txBody>
          <a:bodyPr/>
          <a:lstStyle/>
          <a:p>
            <a:r>
              <a:rPr lang="en-US" dirty="0"/>
              <a:t>Extending the model knowledge</a:t>
            </a:r>
          </a:p>
          <a:p>
            <a:r>
              <a:rPr lang="en-US" dirty="0"/>
              <a:t>Combines information retrieval </a:t>
            </a:r>
            <a:br>
              <a:rPr lang="en-US" dirty="0"/>
            </a:br>
            <a:r>
              <a:rPr lang="en-US" dirty="0"/>
              <a:t>with text generation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67428-4812-784A-DC82-F71D87FB25C5}"/>
              </a:ext>
            </a:extLst>
          </p:cNvPr>
          <p:cNvSpPr txBox="1"/>
          <p:nvPr/>
        </p:nvSpPr>
        <p:spPr>
          <a:xfrm>
            <a:off x="592595" y="6165876"/>
            <a:ext cx="6241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r>
              <a:rPr lang="en-US" dirty="0"/>
              <a:t>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D143030-90ED-2372-2B2C-82BCE4A2F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4408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0D5C-8B3E-64CE-ED2E-695C9515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Reranking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B123F-EF6F-B6C2-A88E-2C67E892C6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912114"/>
          </a:xfrm>
        </p:spPr>
        <p:txBody>
          <a:bodyPr/>
          <a:lstStyle/>
          <a:p>
            <a:r>
              <a:rPr lang="en-US" b="1" dirty="0"/>
              <a:t>The Problem:</a:t>
            </a:r>
            <a:br>
              <a:rPr lang="en-US" b="1" dirty="0"/>
            </a:br>
            <a:r>
              <a:rPr lang="en-US" dirty="0"/>
              <a:t>Embedding similarity ≠ meaning </a:t>
            </a:r>
          </a:p>
          <a:p>
            <a:r>
              <a:rPr lang="en-US" b="1" dirty="0"/>
              <a:t>The Solution = Reranking = a second, smarter filtering step</a:t>
            </a:r>
            <a:endParaRPr lang="en-US" dirty="0"/>
          </a:p>
          <a:p>
            <a:r>
              <a:rPr lang="en-US" dirty="0"/>
              <a:t>After retrieval: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take the top </a:t>
            </a:r>
            <a:r>
              <a:rPr lang="en-US" i="1" dirty="0"/>
              <a:t>k</a:t>
            </a:r>
            <a:r>
              <a:rPr lang="en-US" dirty="0"/>
              <a:t> candidates (e.g., 20 chunks) 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pass them—together with the query—into a </a:t>
            </a:r>
            <a:r>
              <a:rPr lang="en-US" b="1" dirty="0" err="1"/>
              <a:t>reranker</a:t>
            </a:r>
            <a:r>
              <a:rPr lang="en-US" b="1" dirty="0"/>
              <a:t> model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model scores each chunk based on </a:t>
            </a:r>
            <a:r>
              <a:rPr lang="en-US" b="1" dirty="0"/>
              <a:t>actual relevance to the query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keep the best </a:t>
            </a:r>
            <a:r>
              <a:rPr lang="en-US" i="1" dirty="0"/>
              <a:t>n</a:t>
            </a:r>
            <a:r>
              <a:rPr lang="en-US" dirty="0"/>
              <a:t> (e.g., top 3–5)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371864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E3019-7438-948C-EE9D-E469FBF0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6" y="1676073"/>
            <a:ext cx="6400800" cy="553998"/>
          </a:xfrm>
        </p:spPr>
        <p:txBody>
          <a:bodyPr/>
          <a:lstStyle/>
          <a:p>
            <a:r>
              <a:rPr lang="en-US" dirty="0"/>
              <a:t>RAG Demo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479BD-BC96-2C1A-A8EA-6DCE773648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716" y="2667180"/>
            <a:ext cx="6400800" cy="19697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InMemory</a:t>
            </a:r>
            <a:r>
              <a:rPr lang="en-US" sz="2800" dirty="0"/>
              <a:t> Vector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Agent with context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3C5E6-F647-1788-2AE6-171C359C9C2F}"/>
              </a:ext>
            </a:extLst>
          </p:cNvPr>
          <p:cNvSpPr txBox="1"/>
          <p:nvPr/>
        </p:nvSpPr>
        <p:spPr>
          <a:xfrm>
            <a:off x="316186" y="4675605"/>
            <a:ext cx="6811860" cy="1450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.\src\Agents\</a:t>
            </a:r>
            <a:r>
              <a:rPr lang="de-DE" dirty="0" err="1">
                <a:solidFill>
                  <a:schemeClr val="bg1"/>
                </a:solidFill>
              </a:rPr>
              <a:t>RagAgent</a:t>
            </a:r>
            <a:br>
              <a:rPr lang="de-DE" dirty="0">
                <a:solidFill>
                  <a:schemeClr val="bg1"/>
                </a:solidFill>
              </a:rPr>
            </a:b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.\</a:t>
            </a:r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SKTrainingSolution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semantickernelsample</a:t>
            </a:r>
            <a:r>
              <a:rPr lang="de-DE" dirty="0">
                <a:solidFill>
                  <a:schemeClr val="bg1"/>
                </a:solidFill>
              </a:rPr>
              <a:t>\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Samples: </a:t>
            </a:r>
            <a:r>
              <a:rPr lang="de-DE" dirty="0" err="1">
                <a:solidFill>
                  <a:schemeClr val="bg1"/>
                </a:solidFill>
              </a:rPr>
              <a:t>RagSample.cs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8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C0A8-2BF4-2B99-8B61-2E506D9F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B8430-F537-9E77-574C-3A147BE5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2321004"/>
            <a:ext cx="9570884" cy="1107996"/>
          </a:xfrm>
        </p:spPr>
        <p:txBody>
          <a:bodyPr/>
          <a:lstStyle/>
          <a:p>
            <a:r>
              <a:rPr lang="en-US" sz="4400" dirty="0"/>
              <a:t>AGENTS</a:t>
            </a:r>
            <a:br>
              <a:rPr lang="en-US" sz="4400" dirty="0"/>
            </a:br>
            <a:r>
              <a:rPr lang="en-US" sz="3600" dirty="0"/>
              <a:t>Microsoft Agent Framework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215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CC89-DB6D-ECFC-805E-CBF8B654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-&gt; Model Chat </a:t>
            </a:r>
            <a:r>
              <a:rPr lang="en-US" dirty="0" err="1"/>
              <a:t>iteraction</a:t>
            </a:r>
            <a:endParaRPr lang="de-DE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901A2FC-3F4E-719D-C5C2-0F2037B16003}"/>
              </a:ext>
            </a:extLst>
          </p:cNvPr>
          <p:cNvSpPr/>
          <p:nvPr/>
        </p:nvSpPr>
        <p:spPr>
          <a:xfrm>
            <a:off x="3984253" y="2191113"/>
            <a:ext cx="3498903" cy="617049"/>
          </a:xfrm>
          <a:prstGeom prst="wedgeRectCallout">
            <a:avLst>
              <a:gd name="adj1" fmla="val -13746"/>
              <a:gd name="adj2" fmla="val 15249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tx1"/>
                </a:solidFill>
              </a:rPr>
              <a:t>User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de-DE" dirty="0" err="1">
                <a:solidFill>
                  <a:schemeClr val="tx1"/>
                </a:solidFill>
              </a:rPr>
              <a:t>How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you</a:t>
            </a:r>
            <a:r>
              <a:rPr lang="de-DE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fik 1">
            <a:extLst>
              <a:ext uri="{FF2B5EF4-FFF2-40B4-BE49-F238E27FC236}">
                <a16:creationId xmlns:a16="http://schemas.microsoft.com/office/drawing/2014/main" id="{D6E56107-CB4A-6EDC-EA91-E6D0D3DD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043346" y="3193962"/>
            <a:ext cx="1209569" cy="8073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5738E5-506C-8A6E-594E-B179DE7BDC17}"/>
              </a:ext>
            </a:extLst>
          </p:cNvPr>
          <p:cNvCxnSpPr>
            <a:cxnSpLocks/>
            <a:stCxn id="9" idx="2"/>
            <a:endCxn id="6" idx="1"/>
          </p:cNvCxnSpPr>
          <p:nvPr/>
        </p:nvCxnSpPr>
        <p:spPr>
          <a:xfrm flipH="1" flipV="1">
            <a:off x="4252915" y="3597656"/>
            <a:ext cx="3480518" cy="762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4">
            <a:extLst>
              <a:ext uri="{FF2B5EF4-FFF2-40B4-BE49-F238E27FC236}">
                <a16:creationId xmlns:a16="http://schemas.microsoft.com/office/drawing/2014/main" id="{577EABFC-C2C7-3F7F-1057-E7EFE6AD1512}"/>
              </a:ext>
            </a:extLst>
          </p:cNvPr>
          <p:cNvSpPr txBox="1"/>
          <p:nvPr/>
        </p:nvSpPr>
        <p:spPr>
          <a:xfrm>
            <a:off x="3100613" y="400134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FF0000"/>
                </a:solidFill>
              </a:rPr>
              <a:t>Prompt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1C0368-C2E3-43CB-8E70-4A151146DF0C}"/>
              </a:ext>
            </a:extLst>
          </p:cNvPr>
          <p:cNvSpPr/>
          <p:nvPr/>
        </p:nvSpPr>
        <p:spPr>
          <a:xfrm>
            <a:off x="7733433" y="3238856"/>
            <a:ext cx="876300" cy="7328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AI</a:t>
            </a:r>
            <a:endParaRPr lang="en-US" dirty="0"/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7591516-B972-DEA9-646F-28EE301EDA6B}"/>
              </a:ext>
            </a:extLst>
          </p:cNvPr>
          <p:cNvSpPr txBox="1"/>
          <p:nvPr/>
        </p:nvSpPr>
        <p:spPr>
          <a:xfrm>
            <a:off x="5462484" y="3235943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FF0000"/>
                </a:solidFill>
              </a:rPr>
              <a:t>(1)</a:t>
            </a:r>
            <a:endParaRPr lang="en-US" dirty="0"/>
          </a:p>
        </p:txBody>
      </p:sp>
      <p:sp>
        <p:nvSpPr>
          <p:cNvPr id="11" name="TextBox 43">
            <a:extLst>
              <a:ext uri="{FF2B5EF4-FFF2-40B4-BE49-F238E27FC236}">
                <a16:creationId xmlns:a16="http://schemas.microsoft.com/office/drawing/2014/main" id="{3CB12F9D-8AD2-70E5-14B7-18A364CACE88}"/>
              </a:ext>
            </a:extLst>
          </p:cNvPr>
          <p:cNvSpPr txBox="1"/>
          <p:nvPr/>
        </p:nvSpPr>
        <p:spPr>
          <a:xfrm>
            <a:off x="5489715" y="3864382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FF0000"/>
                </a:solidFill>
              </a:rPr>
              <a:t>(2)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A221F-A34B-BA77-6430-B709366BC4E3}"/>
              </a:ext>
            </a:extLst>
          </p:cNvPr>
          <p:cNvCxnSpPr>
            <a:cxnSpLocks/>
          </p:cNvCxnSpPr>
          <p:nvPr/>
        </p:nvCxnSpPr>
        <p:spPr>
          <a:xfrm>
            <a:off x="4135913" y="3841004"/>
            <a:ext cx="3488519" cy="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E758D2C-7481-7024-32E6-109E677D7B95}"/>
              </a:ext>
            </a:extLst>
          </p:cNvPr>
          <p:cNvSpPr/>
          <p:nvPr/>
        </p:nvSpPr>
        <p:spPr>
          <a:xfrm>
            <a:off x="3984253" y="4970019"/>
            <a:ext cx="4748933" cy="945110"/>
          </a:xfrm>
          <a:prstGeom prst="wedgeRectCallout">
            <a:avLst>
              <a:gd name="adj1" fmla="val -24979"/>
              <a:gd name="adj2" fmla="val -11702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tx1"/>
                </a:solidFill>
              </a:rPr>
              <a:t>Assistent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de-DE" dirty="0" err="1">
                <a:solidFill>
                  <a:schemeClr val="tx1"/>
                </a:solidFill>
              </a:rPr>
              <a:t>I‘m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fine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how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I </a:t>
            </a:r>
            <a:r>
              <a:rPr lang="de-DE" dirty="0" err="1">
                <a:solidFill>
                  <a:schemeClr val="tx1"/>
                </a:solidFill>
              </a:rPr>
              <a:t>help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you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Graphic 9" descr="Envelope outline">
            <a:extLst>
              <a:ext uri="{FF2B5EF4-FFF2-40B4-BE49-F238E27FC236}">
                <a16:creationId xmlns:a16="http://schemas.microsoft.com/office/drawing/2014/main" id="{2C42D06A-5B9C-C039-E6D5-CFE07ACC4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9161" y="5009745"/>
            <a:ext cx="914400" cy="914400"/>
          </a:xfrm>
          <a:prstGeom prst="rect">
            <a:avLst/>
          </a:prstGeom>
        </p:spPr>
      </p:pic>
      <p:pic>
        <p:nvPicPr>
          <p:cNvPr id="15" name="Graphic 10" descr="Envelope outline">
            <a:extLst>
              <a:ext uri="{FF2B5EF4-FFF2-40B4-BE49-F238E27FC236}">
                <a16:creationId xmlns:a16="http://schemas.microsoft.com/office/drawing/2014/main" id="{01786A5B-B19F-B1C7-EACC-5CC251A16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719" y="20450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7280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C926-FA2A-41C3-C0BB-6C63A847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 Specification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7DAF1-CE00-6815-337C-EA63CB6C97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5503045"/>
          </a:xfrm>
        </p:spPr>
        <p:txBody>
          <a:bodyPr/>
          <a:lstStyle/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"type": "function",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"function":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"name": "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get_weather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"description": "Retrieves current weather for the given location.",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"strict": true,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"parameters":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"type": "object",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"properties":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"location":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"type": "string",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"description": "City and country e.g. Bogotá, Colombia"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"units":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"type": ["string", "null"],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</a:t>
            </a:r>
            <a:r>
              <a:rPr lang="en-US" sz="1200" dirty="0" err="1">
                <a:latin typeface="Consolas" panose="020B0609020204030204" pitchFamily="49" charset="0"/>
              </a:rPr>
              <a:t>enum</a:t>
            </a:r>
            <a:r>
              <a:rPr lang="en-US" sz="1200" dirty="0">
                <a:latin typeface="Consolas" panose="020B0609020204030204" pitchFamily="49" charset="0"/>
              </a:rPr>
              <a:t>": ["</a:t>
            </a:r>
            <a:r>
              <a:rPr lang="en-US" sz="1200" dirty="0" err="1">
                <a:latin typeface="Consolas" panose="020B0609020204030204" pitchFamily="49" charset="0"/>
              </a:rPr>
              <a:t>celsius</a:t>
            </a:r>
            <a:r>
              <a:rPr lang="en-US" sz="1200" dirty="0">
                <a:latin typeface="Consolas" panose="020B0609020204030204" pitchFamily="49" charset="0"/>
              </a:rPr>
              <a:t>", "</a:t>
            </a:r>
            <a:r>
              <a:rPr lang="en-US" sz="1200" dirty="0" err="1">
                <a:latin typeface="Consolas" panose="020B0609020204030204" pitchFamily="49" charset="0"/>
              </a:rPr>
              <a:t>fahrenheit</a:t>
            </a:r>
            <a:r>
              <a:rPr lang="en-US" sz="1200" dirty="0">
                <a:latin typeface="Consolas" panose="020B0609020204030204" pitchFamily="49" charset="0"/>
              </a:rPr>
              <a:t>"],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"description": "Units the temperature will be returned in."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"required": ["location", "units"],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</a:t>
            </a:r>
            <a:r>
              <a:rPr lang="en-US" sz="1200" dirty="0" err="1">
                <a:latin typeface="Consolas" panose="020B0609020204030204" pitchFamily="49" charset="0"/>
              </a:rPr>
              <a:t>additionalProperties</a:t>
            </a:r>
            <a:r>
              <a:rPr lang="en-US" sz="1200" dirty="0">
                <a:latin typeface="Consolas" panose="020B0609020204030204" pitchFamily="49" charset="0"/>
              </a:rPr>
              <a:t>": false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67287413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0759-A281-377A-70EA-B7F93122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AC73-789C-3124-D18B-AB89A036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</a:t>
            </a:r>
            <a:endParaRPr lang="de-DE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3F712260-5DB8-84B9-B398-88055DD038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3" name="Grafik 1">
            <a:extLst>
              <a:ext uri="{FF2B5EF4-FFF2-40B4-BE49-F238E27FC236}">
                <a16:creationId xmlns:a16="http://schemas.microsoft.com/office/drawing/2014/main" id="{A62ECF53-0ECC-F82E-8E52-4D45024D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9613" y="3765932"/>
            <a:ext cx="1209569" cy="807387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75FCA1-D11C-4128-A3A2-25666E7BF148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1861930" y="4177246"/>
            <a:ext cx="3357770" cy="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C1AE6B7-0694-AF58-DAE6-B7AB4009884C}"/>
              </a:ext>
            </a:extLst>
          </p:cNvPr>
          <p:cNvSpPr txBox="1"/>
          <p:nvPr/>
        </p:nvSpPr>
        <p:spPr>
          <a:xfrm>
            <a:off x="586880" y="457331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Prompt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9FC80E-4D56-D389-143D-A59CB31E7F3F}"/>
              </a:ext>
            </a:extLst>
          </p:cNvPr>
          <p:cNvSpPr/>
          <p:nvPr/>
        </p:nvSpPr>
        <p:spPr>
          <a:xfrm>
            <a:off x="7868877" y="2311842"/>
            <a:ext cx="3169015" cy="10406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u="sng" dirty="0" err="1"/>
              <a:t>LichtPlugin</a:t>
            </a:r>
            <a:endParaRPr lang="de-DE" u="sng" dirty="0"/>
          </a:p>
          <a:p>
            <a:pPr algn="ctr"/>
            <a:r>
              <a:rPr lang="de-DE" dirty="0" err="1"/>
              <a:t>SwitchLightOn</a:t>
            </a:r>
            <a:r>
              <a:rPr lang="de-DE" dirty="0"/>
              <a:t>(</a:t>
            </a:r>
            <a:r>
              <a:rPr lang="de-DE" dirty="0" err="1"/>
              <a:t>color</a:t>
            </a:r>
            <a:r>
              <a:rPr lang="de-DE" dirty="0"/>
              <a:t>)</a:t>
            </a:r>
          </a:p>
          <a:p>
            <a:pPr algn="ctr"/>
            <a:r>
              <a:rPr lang="de-DE" dirty="0" err="1"/>
              <a:t>SwitychLightOff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8679B4-B299-88EA-19A2-4C2BC476505E}"/>
              </a:ext>
            </a:extLst>
          </p:cNvPr>
          <p:cNvSpPr/>
          <p:nvPr/>
        </p:nvSpPr>
        <p:spPr>
          <a:xfrm>
            <a:off x="7843175" y="3672957"/>
            <a:ext cx="3169014" cy="10406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u="sng" dirty="0" err="1"/>
              <a:t>WeatherPlugin</a:t>
            </a:r>
            <a:endParaRPr lang="de-DE" u="sng" dirty="0"/>
          </a:p>
          <a:p>
            <a:pPr algn="ctr"/>
            <a:r>
              <a:rPr lang="de-DE" dirty="0" err="1"/>
              <a:t>ShowInfo</a:t>
            </a:r>
            <a:r>
              <a:rPr lang="de-DE" dirty="0"/>
              <a:t>(Location)</a:t>
            </a:r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31747FA-605E-C7C3-B00D-D8779A86D31A}"/>
              </a:ext>
            </a:extLst>
          </p:cNvPr>
          <p:cNvSpPr/>
          <p:nvPr/>
        </p:nvSpPr>
        <p:spPr>
          <a:xfrm>
            <a:off x="5219700" y="3810826"/>
            <a:ext cx="876300" cy="7328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AI</a:t>
            </a: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9A49F2-2665-C1B4-C0B6-E4D1A04EB99C}"/>
              </a:ext>
            </a:extLst>
          </p:cNvPr>
          <p:cNvCxnSpPr>
            <a:cxnSpLocks/>
            <a:stCxn id="36" idx="1"/>
            <a:endCxn id="38" idx="7"/>
          </p:cNvCxnSpPr>
          <p:nvPr/>
        </p:nvCxnSpPr>
        <p:spPr>
          <a:xfrm flipH="1">
            <a:off x="5967669" y="2832156"/>
            <a:ext cx="1901208" cy="1085992"/>
          </a:xfrm>
          <a:prstGeom prst="straightConnector1">
            <a:avLst/>
          </a:prstGeom>
          <a:ln w="31750">
            <a:solidFill>
              <a:srgbClr val="00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3989DD-75B9-36B2-3E1E-CC638A844087}"/>
              </a:ext>
            </a:extLst>
          </p:cNvPr>
          <p:cNvCxnSpPr>
            <a:cxnSpLocks/>
            <a:stCxn id="37" idx="1"/>
            <a:endCxn id="38" idx="6"/>
          </p:cNvCxnSpPr>
          <p:nvPr/>
        </p:nvCxnSpPr>
        <p:spPr>
          <a:xfrm flipH="1" flipV="1">
            <a:off x="6096000" y="4177246"/>
            <a:ext cx="1747175" cy="16025"/>
          </a:xfrm>
          <a:prstGeom prst="straightConnector1">
            <a:avLst/>
          </a:prstGeom>
          <a:ln w="31750">
            <a:solidFill>
              <a:srgbClr val="00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94B34CA-3B4D-A50D-C7E9-3F354A251450}"/>
              </a:ext>
            </a:extLst>
          </p:cNvPr>
          <p:cNvCxnSpPr>
            <a:cxnSpLocks/>
            <a:endCxn id="38" idx="5"/>
          </p:cNvCxnSpPr>
          <p:nvPr/>
        </p:nvCxnSpPr>
        <p:spPr>
          <a:xfrm flipH="1" flipV="1">
            <a:off x="5967669" y="4436343"/>
            <a:ext cx="1875506" cy="1043330"/>
          </a:xfrm>
          <a:prstGeom prst="straightConnector1">
            <a:avLst/>
          </a:prstGeom>
          <a:ln w="31750">
            <a:solidFill>
              <a:srgbClr val="00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C1FB74-8E09-2776-9428-6B474B1B36CB}"/>
              </a:ext>
            </a:extLst>
          </p:cNvPr>
          <p:cNvSpPr txBox="1"/>
          <p:nvPr/>
        </p:nvSpPr>
        <p:spPr>
          <a:xfrm>
            <a:off x="3189257" y="3757086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(1)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7E025C-383A-14CD-0343-F7F4A9038904}"/>
              </a:ext>
            </a:extLst>
          </p:cNvPr>
          <p:cNvSpPr txBox="1"/>
          <p:nvPr/>
        </p:nvSpPr>
        <p:spPr>
          <a:xfrm>
            <a:off x="3184071" y="4487215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(2)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9B3DA30-0991-B810-2A7F-8125AC836C35}"/>
              </a:ext>
            </a:extLst>
          </p:cNvPr>
          <p:cNvCxnSpPr>
            <a:cxnSpLocks/>
          </p:cNvCxnSpPr>
          <p:nvPr/>
        </p:nvCxnSpPr>
        <p:spPr>
          <a:xfrm>
            <a:off x="1739182" y="4492838"/>
            <a:ext cx="3241795" cy="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D61DD15-0A25-0823-14D9-15388026E8D4}"/>
              </a:ext>
            </a:extLst>
          </p:cNvPr>
          <p:cNvSpPr/>
          <p:nvPr/>
        </p:nvSpPr>
        <p:spPr>
          <a:xfrm>
            <a:off x="7843175" y="5034071"/>
            <a:ext cx="3169014" cy="10406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SqlQueryPlugin</a:t>
            </a:r>
            <a:endParaRPr lang="en-US" dirty="0"/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6A9C44BC-B9FD-BE15-DA68-6313423F58E4}"/>
              </a:ext>
            </a:extLst>
          </p:cNvPr>
          <p:cNvSpPr/>
          <p:nvPr/>
        </p:nvSpPr>
        <p:spPr>
          <a:xfrm>
            <a:off x="1188589" y="2223319"/>
            <a:ext cx="4405095" cy="617049"/>
          </a:xfrm>
          <a:prstGeom prst="wedgeRectCallout">
            <a:avLst>
              <a:gd name="adj1" fmla="val -3217"/>
              <a:gd name="adj2" fmla="val 155720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User</a:t>
            </a:r>
            <a:r>
              <a:rPr lang="de-DE" dirty="0">
                <a:solidFill>
                  <a:schemeClr val="tx1"/>
                </a:solidFill>
              </a:rPr>
              <a:t>: Switch on the light </a:t>
            </a:r>
            <a:r>
              <a:rPr lang="de-DE" dirty="0" err="1">
                <a:solidFill>
                  <a:schemeClr val="tx1"/>
                </a:solidFill>
              </a:rPr>
              <a:t>to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green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4B7B5CF8-4FC1-3E0B-5BCB-BB8F39DBD172}"/>
              </a:ext>
            </a:extLst>
          </p:cNvPr>
          <p:cNvSpPr/>
          <p:nvPr/>
        </p:nvSpPr>
        <p:spPr>
          <a:xfrm>
            <a:off x="2368088" y="5553561"/>
            <a:ext cx="3759790" cy="945110"/>
          </a:xfrm>
          <a:prstGeom prst="wedgeRectCallout">
            <a:avLst>
              <a:gd name="adj1" fmla="val -24979"/>
              <a:gd name="adj2" fmla="val -117022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Tool:  </a:t>
            </a:r>
            <a:r>
              <a:rPr lang="de-DE" b="1" i="1" dirty="0" err="1">
                <a:solidFill>
                  <a:schemeClr val="tx1"/>
                </a:solidFill>
              </a:rPr>
              <a:t>SwitchLightOn</a:t>
            </a:r>
            <a:r>
              <a:rPr lang="de-DE" dirty="0">
                <a:solidFill>
                  <a:schemeClr val="tx1"/>
                </a:solidFill>
              </a:rPr>
              <a:t>(</a:t>
            </a:r>
            <a:r>
              <a:rPr lang="de-DE" i="1" dirty="0" err="1">
                <a:solidFill>
                  <a:schemeClr val="tx1"/>
                </a:solidFill>
              </a:rPr>
              <a:t>green</a:t>
            </a:r>
            <a:r>
              <a:rPr lang="de-DE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8" name="Graphic 47" descr="Envelope outline">
            <a:extLst>
              <a:ext uri="{FF2B5EF4-FFF2-40B4-BE49-F238E27FC236}">
                <a16:creationId xmlns:a16="http://schemas.microsoft.com/office/drawing/2014/main" id="{C74C6D5E-B0D5-6D65-B380-300BDA3D4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3478" y="5584271"/>
            <a:ext cx="914400" cy="914400"/>
          </a:xfrm>
          <a:prstGeom prst="rect">
            <a:avLst/>
          </a:prstGeom>
        </p:spPr>
      </p:pic>
      <p:pic>
        <p:nvPicPr>
          <p:cNvPr id="49" name="Graphic 10" descr="Envelope outline">
            <a:extLst>
              <a:ext uri="{FF2B5EF4-FFF2-40B4-BE49-F238E27FC236}">
                <a16:creationId xmlns:a16="http://schemas.microsoft.com/office/drawing/2014/main" id="{22BA903F-F857-F35C-C2C1-E5B8D5CCB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992" y="2195068"/>
            <a:ext cx="700484" cy="7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6316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AC5E-E366-62D1-7176-08275B86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</a:t>
            </a:r>
            <a:endParaRPr lang="de-D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9129B3-C426-4BB5-A035-784F46F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9" y="900502"/>
            <a:ext cx="115538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8749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CFD9-1599-4585-1826-2EED17E6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2E0E46-DED0-624A-B778-8BD2AE57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04" y="2029867"/>
            <a:ext cx="6400800" cy="553998"/>
          </a:xfrm>
        </p:spPr>
        <p:txBody>
          <a:bodyPr/>
          <a:lstStyle/>
          <a:p>
            <a:r>
              <a:rPr lang="en-US" dirty="0"/>
              <a:t>Agents with Functions/Tools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1A665-8E7E-AC39-73FF-5D2E8C35DA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04" y="3020974"/>
            <a:ext cx="6400800" cy="1107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Tools (Functions, Plugins)</a:t>
            </a:r>
          </a:p>
          <a:p>
            <a:endParaRPr lang="en-US" sz="2800" dirty="0"/>
          </a:p>
          <a:p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F649A-6E65-AAA1-F44D-D817A8EE79F5}"/>
              </a:ext>
            </a:extLst>
          </p:cNvPr>
          <p:cNvSpPr txBox="1"/>
          <p:nvPr/>
        </p:nvSpPr>
        <p:spPr>
          <a:xfrm>
            <a:off x="312574" y="5217246"/>
            <a:ext cx="6811860" cy="1178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Agents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AgentFrameworkSamples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1_HelloAgents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 err="1">
                <a:solidFill>
                  <a:schemeClr val="bg1"/>
                </a:solidFill>
              </a:rPr>
              <a:t>RunWithToolsAsync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58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69100-754F-5A63-49D4-A0B94D48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4569A-CD03-C2CC-0850-E0F70B06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2321004"/>
            <a:ext cx="9570884" cy="1107996"/>
          </a:xfrm>
        </p:spPr>
        <p:txBody>
          <a:bodyPr/>
          <a:lstStyle/>
          <a:p>
            <a:r>
              <a:rPr lang="en-US" sz="4400" dirty="0"/>
              <a:t>MCP</a:t>
            </a:r>
            <a:br>
              <a:rPr lang="en-US" sz="4400" dirty="0"/>
            </a:br>
            <a:r>
              <a:rPr lang="en-US" sz="3600" dirty="0"/>
              <a:t>Model Context Protocol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167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6264-11DF-D998-905C-B468D714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6194-36EF-DDD2-F4B9-2AD5C1EE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97566-4EC7-7CF4-DAF3-E875BB6749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21000" y="3009170"/>
            <a:ext cx="4556410" cy="1107996"/>
          </a:xfrm>
        </p:spPr>
        <p:txBody>
          <a:bodyPr/>
          <a:lstStyle/>
          <a:p>
            <a:pPr algn="ctr"/>
            <a:r>
              <a:rPr lang="en-US" sz="2400" dirty="0"/>
              <a:t>Created by Anthropic</a:t>
            </a:r>
            <a:br>
              <a:rPr lang="en-US" sz="2400" dirty="0"/>
            </a:br>
            <a:r>
              <a:rPr lang="en-US" sz="2400" dirty="0"/>
              <a:t>Adopted by the AI community</a:t>
            </a:r>
            <a:br>
              <a:rPr lang="en-US" sz="2400" dirty="0"/>
            </a:br>
            <a:endParaRPr lang="de-D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29280-65EE-99C9-E861-F597E0AA2001}"/>
              </a:ext>
            </a:extLst>
          </p:cNvPr>
          <p:cNvSpPr txBox="1"/>
          <p:nvPr/>
        </p:nvSpPr>
        <p:spPr>
          <a:xfrm>
            <a:off x="3419475" y="6314077"/>
            <a:ext cx="6813550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hlinkClick r:id="rId2"/>
              </a:rPr>
              <a:t>Specification</a:t>
            </a:r>
            <a:r>
              <a:rPr lang="de-DE" dirty="0">
                <a:hlinkClick r:id="rId2"/>
              </a:rPr>
              <a:t> - Model </a:t>
            </a:r>
            <a:r>
              <a:rPr lang="de-DE" dirty="0" err="1">
                <a:hlinkClick r:id="rId2"/>
              </a:rPr>
              <a:t>Context</a:t>
            </a:r>
            <a:r>
              <a:rPr lang="de-DE" dirty="0">
                <a:hlinkClick r:id="rId2"/>
              </a:rPr>
              <a:t> Protocol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458017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BE33-6F47-6689-A3EF-80DD7575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MCP and how does it work?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9E9CC7-7894-A0A8-2318-9B744612F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8263" y="1454030"/>
            <a:ext cx="9716951" cy="39499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7AFA31-F1AC-66BD-F93E-2DD20E85B639}"/>
              </a:ext>
            </a:extLst>
          </p:cNvPr>
          <p:cNvSpPr/>
          <p:nvPr/>
        </p:nvSpPr>
        <p:spPr bwMode="auto">
          <a:xfrm>
            <a:off x="831850" y="2774950"/>
            <a:ext cx="2851150" cy="654050"/>
          </a:xfrm>
          <a:prstGeom prst="rect">
            <a:avLst/>
          </a:prstGeom>
          <a:solidFill>
            <a:schemeClr val="bg1"/>
          </a:solidFill>
          <a:ln>
            <a:solidFill>
              <a:srgbClr val="000F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Application/Agent</a:t>
            </a:r>
            <a:endParaRPr lang="de-DE" sz="200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914C7-A753-6090-B0BB-6CC948573E30}"/>
              </a:ext>
            </a:extLst>
          </p:cNvPr>
          <p:cNvSpPr txBox="1"/>
          <p:nvPr/>
        </p:nvSpPr>
        <p:spPr>
          <a:xfrm>
            <a:off x="3787775" y="2595524"/>
            <a:ext cx="78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stdio</a:t>
            </a:r>
            <a:endParaRPr lang="de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A699FB-CAC6-AFB4-23D6-09CF9158ED84}"/>
              </a:ext>
            </a:extLst>
          </p:cNvPr>
          <p:cNvSpPr/>
          <p:nvPr/>
        </p:nvSpPr>
        <p:spPr bwMode="auto">
          <a:xfrm>
            <a:off x="4572000" y="3350937"/>
            <a:ext cx="1581150" cy="50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http stream</a:t>
            </a:r>
            <a:endParaRPr lang="de-DE" sz="160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FA812-4634-24B1-3CA3-F73245DD5C28}"/>
              </a:ext>
            </a:extLst>
          </p:cNvPr>
          <p:cNvSpPr txBox="1"/>
          <p:nvPr/>
        </p:nvSpPr>
        <p:spPr>
          <a:xfrm>
            <a:off x="3889375" y="1840111"/>
            <a:ext cx="78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stdio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858276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CP Claude Mermaid Chart">
            <a:extLst>
              <a:ext uri="{FF2B5EF4-FFF2-40B4-BE49-F238E27FC236}">
                <a16:creationId xmlns:a16="http://schemas.microsoft.com/office/drawing/2014/main" id="{3CBC5ED1-CA65-05E2-5DBF-4356C728C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61" y="-165332"/>
            <a:ext cx="12485923" cy="702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50C4FF-EAAB-98A2-5CA9-2D21EF2E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637615" y="2821873"/>
            <a:ext cx="4562791" cy="553998"/>
          </a:xfrm>
        </p:spPr>
        <p:txBody>
          <a:bodyPr/>
          <a:lstStyle/>
          <a:p>
            <a:r>
              <a:rPr lang="en-US" dirty="0"/>
              <a:t>MCP under the HUB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34477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C17F6-8F85-73C3-1B78-001D0295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FDA5B2-25D3-B147-AB8C-85BF15B5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04" y="2029867"/>
            <a:ext cx="6400800" cy="553998"/>
          </a:xfrm>
        </p:spPr>
        <p:txBody>
          <a:bodyPr/>
          <a:lstStyle/>
          <a:p>
            <a:r>
              <a:rPr lang="en-US" dirty="0"/>
              <a:t>MCP Demos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5E707-BE01-8271-021B-FCD13F1004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04" y="3020974"/>
            <a:ext cx="6400800" cy="1107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Agent using STDIO MCP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Agent using HTPP MCP</a:t>
            </a:r>
          </a:p>
          <a:p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C82B6-A17D-6A26-A1D4-83E42FC9415A}"/>
              </a:ext>
            </a:extLst>
          </p:cNvPr>
          <p:cNvSpPr txBox="1"/>
          <p:nvPr/>
        </p:nvSpPr>
        <p:spPr>
          <a:xfrm>
            <a:off x="312574" y="5217246"/>
            <a:ext cx="6811860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</a:t>
            </a:r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Agents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AgentFrameworkSamples</a:t>
            </a:r>
            <a:r>
              <a:rPr lang="de-DE" dirty="0">
                <a:solidFill>
                  <a:schemeClr val="bg1"/>
                </a:solidFill>
              </a:rPr>
              <a:t>\MCP</a:t>
            </a:r>
          </a:p>
        </p:txBody>
      </p:sp>
    </p:spTree>
    <p:extLst>
      <p:ext uri="{BB962C8B-B14F-4D97-AF65-F5344CB8AC3E}">
        <p14:creationId xmlns:p14="http://schemas.microsoft.com/office/powerpoint/2010/main" val="321843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A183-E3F2-9976-A423-42225511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your own CLAW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727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4001-1D02-82B9-C591-46A83156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99CB28D-FABC-4E45-4ECC-178BC8E4A2F8}"/>
              </a:ext>
            </a:extLst>
          </p:cNvPr>
          <p:cNvSpPr/>
          <p:nvPr/>
        </p:nvSpPr>
        <p:spPr bwMode="auto">
          <a:xfrm>
            <a:off x="451785" y="4097396"/>
            <a:ext cx="6564009" cy="2049419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B3618A-FED1-35A0-45A8-771AA736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1" y="2325953"/>
            <a:ext cx="9661620" cy="1477328"/>
          </a:xfrm>
        </p:spPr>
        <p:txBody>
          <a:bodyPr/>
          <a:lstStyle/>
          <a:p>
            <a:br>
              <a:rPr lang="en-US" sz="3200" dirty="0"/>
            </a:br>
            <a:r>
              <a:rPr lang="en-US" sz="3200" dirty="0"/>
              <a:t>THANK YOU </a:t>
            </a:r>
            <a:r>
              <a:rPr lang="en-US" sz="3200" dirty="0">
                <a:sym typeface="Wingdings" panose="05000000000000000000" pitchFamily="2" charset="2"/>
              </a:rPr>
              <a:t> </a:t>
            </a:r>
            <a:br>
              <a:rPr lang="en-US" sz="3200" dirty="0"/>
            </a:br>
            <a:endParaRPr lang="de-DE" sz="32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8947C04-A1F4-BE71-57F6-39A9CEB6991E}"/>
              </a:ext>
            </a:extLst>
          </p:cNvPr>
          <p:cNvSpPr txBox="1">
            <a:spLocks/>
          </p:cNvSpPr>
          <p:nvPr/>
        </p:nvSpPr>
        <p:spPr>
          <a:xfrm>
            <a:off x="607174" y="4490852"/>
            <a:ext cx="9144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/>
              <a:t>Dr. Damir Dobric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7422A-3871-08AB-1226-5865B86D55BC}"/>
              </a:ext>
            </a:extLst>
          </p:cNvPr>
          <p:cNvSpPr txBox="1"/>
          <p:nvPr/>
        </p:nvSpPr>
        <p:spPr>
          <a:xfrm>
            <a:off x="518161" y="4872844"/>
            <a:ext cx="681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400" dirty="0"/>
              <a:t>Lead Software Architect daenet GmbH / ACP Digital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Microsoft Regional Director, 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Most Valuable Professional: AI</a:t>
            </a:r>
            <a:endParaRPr lang="en-DE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1C26E2-0967-58E4-C119-254C648B3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2" y="4279369"/>
            <a:ext cx="1813564" cy="17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1639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RK261.pptx" id="{2E72E2B3-FE3E-4181-9DB6-1239569C0193}" vid="{196D48A7-9118-4EF8-A0B8-2AC9DFC1F8E2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RK261.pptx" id="{2E72E2B3-FE3E-4181-9DB6-1239569C0193}" vid="{4C22E9C1-8B86-4435-B7C1-3F0CD64ED46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GenerationTime xmlns="804751ba-60e0-4191-9865-d7e5284c1d69" xsi:nil="true"/>
    <MediaServiceEventHashCode xmlns="804751ba-60e0-4191-9865-d7e5284c1d69" xsi:nil="true"/>
    <MediaServiceOCR xmlns="804751ba-60e0-4191-9865-d7e5284c1d69" xsi:nil="true"/>
    <MediaServiceMetadata xmlns="804751ba-60e0-4191-9865-d7e5284c1d69" xsi:nil="true"/>
    <MediaServiceDateTaken xmlns="804751ba-60e0-4191-9865-d7e5284c1d69" xsi:nil="true"/>
    <MediaServiceFastMetadata xmlns="804751ba-60e0-4191-9865-d7e5284c1d69" xsi:nil="true"/>
    <lcf76f155ced4ddcb4097134ff3c332f xmlns="804751ba-60e0-4191-9865-d7e5284c1d69">
      <Terms xmlns="http://schemas.microsoft.com/office/infopath/2007/PartnerControls"/>
    </lcf76f155ced4ddcb4097134ff3c332f>
    <Number xmlns="804751ba-60e0-4191-9865-d7e5284c1d69" xsi:nil="true"/>
    <Time xmlns="804751ba-60e0-4191-9865-d7e5284c1d69" xsi:nil="true"/>
    <content xmlns="804751ba-60e0-4191-9865-d7e5284c1d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71A6B924FC94981CCAD1A585590D8" ma:contentTypeVersion="27" ma:contentTypeDescription="Create a new document." ma:contentTypeScope="" ma:versionID="566528f2922ad54e26a908d2133454c1">
  <xsd:schema xmlns:xsd="http://www.w3.org/2001/XMLSchema" xmlns:xs="http://www.w3.org/2001/XMLSchema" xmlns:p="http://schemas.microsoft.com/office/2006/metadata/properties" xmlns:ns1="http://schemas.microsoft.com/sharepoint/v3" xmlns:ns2="804751ba-60e0-4191-9865-d7e5284c1d69" xmlns:ns3="913b567d-4c83-4181-a45c-f04ce7e1b72e" xmlns:ns4="230e9df3-be65-4c73-a93b-d1236ebd677e" targetNamespace="http://schemas.microsoft.com/office/2006/metadata/properties" ma:root="true" ma:fieldsID="6c91453d1ce2972ce38a1123b4b20cb5" ns1:_="" ns2:_="" ns3:_="" ns4:_="">
    <xsd:import namespace="http://schemas.microsoft.com/sharepoint/v3"/>
    <xsd:import namespace="804751ba-60e0-4191-9865-d7e5284c1d69"/>
    <xsd:import namespace="913b567d-4c83-4181-a45c-f04ce7e1b72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Time" minOccurs="0"/>
                <xsd:element ref="ns2:MediaServiceSearchProperties" minOccurs="0"/>
                <xsd:element ref="ns2:MediaServiceObjectDetectorVersions" minOccurs="0"/>
                <xsd:element ref="ns2:TranslatedLang" minOccurs="0"/>
                <xsd:element ref="ns2:content" minOccurs="0"/>
                <xsd:element ref="ns2:MediaServiceDoc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751ba-60e0-4191-9865-d7e5284c1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18" nillable="true" ma:displayName="Location" ma:hidden="true" ma:internalName="MediaServiceLocation" ma:readOnly="true">
      <xsd:simpleType>
        <xsd:restriction base="dms:Text"/>
      </xsd:simpleType>
    </xsd:element>
    <xsd:element name="Number" ma:index="21" nillable="true" ma:displayName="Number" ma:format="Dropdown" ma:internalName="Number" ma:percentage="FALSE">
      <xsd:simpleType>
        <xsd:restriction base="dms:Number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9" nillable="true" ma:displayName="Translated Language" ma:hidden="true" ma:internalName="TranslatedLang" ma:readOnly="true">
      <xsd:simpleType>
        <xsd:restriction base="dms:Text"/>
      </xsd:simpleType>
    </xsd:element>
    <xsd:element name="content" ma:index="30" nillable="true" ma:displayName="content" ma:format="Dropdown" ma:internalName="content">
      <xsd:simpleType>
        <xsd:restriction base="dms:Choice">
          <xsd:enumeration value="Visual Studio"/>
          <xsd:enumeration value="VS Code"/>
          <xsd:enumeration value="GitHub Copilot"/>
          <xsd:enumeration value="Dev Box"/>
          <xsd:enumeration value="Choice 5"/>
        </xsd:restriction>
      </xsd:simpleType>
    </xsd:element>
    <xsd:element name="MediaServiceDocTags" ma:index="31" nillable="true" ma:displayName="MediaServiceDocTags" ma:hidden="true" ma:internalName="MediaServiceDoc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b567d-4c83-4181-a45c-f04ce7e1b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ae7d3c4e-66c4-4603-a26b-8d6b1e039262}" ma:internalName="TaxCatchAll" ma:showField="CatchAllData" ma:web="913b567d-4c83-4181-a45c-f04ce7e1b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dcmitype/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913b567d-4c83-4181-a45c-f04ce7e1b72e"/>
    <ds:schemaRef ds:uri="804751ba-60e0-4191-9865-d7e5284c1d69"/>
  </ds:schemaRefs>
</ds:datastoreItem>
</file>

<file path=customXml/itemProps2.xml><?xml version="1.0" encoding="utf-8"?>
<ds:datastoreItem xmlns:ds="http://schemas.openxmlformats.org/officeDocument/2006/customXml" ds:itemID="{B8BDBCC3-0E3D-4ED4-BA7F-B34A290841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04751ba-60e0-4191-9865-d7e5284c1d69"/>
    <ds:schemaRef ds:uri="913b567d-4c83-4181-a45c-f04ce7e1b72e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DAENET Presentation Template 2026</Template>
  <TotalTime>0</TotalTime>
  <Words>623</Words>
  <Application>Microsoft Office PowerPoint</Application>
  <PresentationFormat>Widescreen</PresentationFormat>
  <Paragraphs>123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Consolas</vt:lpstr>
      <vt:lpstr>Segoe Sans Display Semibold</vt:lpstr>
      <vt:lpstr>Segoe UI</vt:lpstr>
      <vt:lpstr>Segoe UI Semibold</vt:lpstr>
      <vt:lpstr>Wingdings</vt:lpstr>
      <vt:lpstr>Microsoft Build 16:9 Template Light</vt:lpstr>
      <vt:lpstr>Microsoft Build 16:9 Template Dark</vt:lpstr>
      <vt:lpstr>DeepDive Mastering Agents, MCP &amp; Other Hypes </vt:lpstr>
      <vt:lpstr>AGENDA</vt:lpstr>
      <vt:lpstr>COMPLETIONS</vt:lpstr>
      <vt:lpstr>Completing Text Under the hub</vt:lpstr>
      <vt:lpstr>AGENTS Microsoft Agent Framework</vt:lpstr>
      <vt:lpstr>MAF Important Topics</vt:lpstr>
      <vt:lpstr>MAF Demos</vt:lpstr>
      <vt:lpstr>Retrieval Augmented Generation R A G</vt:lpstr>
      <vt:lpstr>What is RAG?</vt:lpstr>
      <vt:lpstr>Reranking</vt:lpstr>
      <vt:lpstr>RAG Demo</vt:lpstr>
      <vt:lpstr>AGENTS Microsoft Agent Framework</vt:lpstr>
      <vt:lpstr>User -&gt; Model Chat iteraction</vt:lpstr>
      <vt:lpstr>Function Calling Specification</vt:lpstr>
      <vt:lpstr>Function Calling</vt:lpstr>
      <vt:lpstr>Function Calling</vt:lpstr>
      <vt:lpstr>Agents with Functions/Tools</vt:lpstr>
      <vt:lpstr>MCP Model Context Protocol</vt:lpstr>
      <vt:lpstr>MCP</vt:lpstr>
      <vt:lpstr>Why MCP and how does it work?</vt:lpstr>
      <vt:lpstr>MCP under the HUB</vt:lpstr>
      <vt:lpstr>MCP Demos</vt:lpstr>
      <vt:lpstr>Building your own CLAW</vt:lpstr>
      <vt:lpstr> THANK YOU   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Build 2026</dc:subject>
  <dc:creator>Damir Dobric</dc:creator>
  <cp:keywords>Build 2026</cp:keywords>
  <dc:description/>
  <cp:lastModifiedBy>Damir Dobric</cp:lastModifiedBy>
  <cp:revision>22</cp:revision>
  <cp:lastPrinted>2023-02-15T20:48:24Z</cp:lastPrinted>
  <dcterms:created xsi:type="dcterms:W3CDTF">2026-06-22T10:24:51Z</dcterms:created>
  <dcterms:modified xsi:type="dcterms:W3CDTF">2026-07-01T16:13:24Z</dcterms:modified>
  <cp:category>Build 2026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0x0101002FE71A6B924FC94981CCAD1A585590D8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