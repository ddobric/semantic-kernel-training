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47" r:id="rId4"/>
    <p:sldMasterId id="2147485551" r:id="rId5"/>
  </p:sldMasterIdLst>
  <p:notesMasterIdLst>
    <p:notesMasterId r:id="rId33"/>
  </p:notesMasterIdLst>
  <p:handoutMasterIdLst>
    <p:handoutMasterId r:id="rId34"/>
  </p:handoutMasterIdLst>
  <p:sldIdLst>
    <p:sldId id="257" r:id="rId6"/>
    <p:sldId id="260" r:id="rId7"/>
    <p:sldId id="308" r:id="rId8"/>
    <p:sldId id="262" r:id="rId9"/>
    <p:sldId id="265" r:id="rId10"/>
    <p:sldId id="306" r:id="rId11"/>
    <p:sldId id="264" r:id="rId12"/>
    <p:sldId id="263" r:id="rId13"/>
    <p:sldId id="266" r:id="rId14"/>
    <p:sldId id="268" r:id="rId15"/>
    <p:sldId id="267" r:id="rId16"/>
    <p:sldId id="270" r:id="rId17"/>
    <p:sldId id="269" r:id="rId18"/>
    <p:sldId id="280" r:id="rId19"/>
    <p:sldId id="281" r:id="rId20"/>
    <p:sldId id="282" r:id="rId21"/>
    <p:sldId id="284" r:id="rId22"/>
    <p:sldId id="285" r:id="rId23"/>
    <p:sldId id="283" r:id="rId24"/>
    <p:sldId id="286" r:id="rId25"/>
    <p:sldId id="287" r:id="rId26"/>
    <p:sldId id="289" r:id="rId27"/>
    <p:sldId id="309" r:id="rId28"/>
    <p:sldId id="290" r:id="rId29"/>
    <p:sldId id="296" r:id="rId30"/>
    <p:sldId id="310" r:id="rId31"/>
    <p:sldId id="311" r:id="rId32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50B4B5A-9A9D-4FD7-93BF-CECD3706A649}">
          <p14:sldIdLst>
            <p14:sldId id="257"/>
            <p14:sldId id="260"/>
            <p14:sldId id="308"/>
          </p14:sldIdLst>
        </p14:section>
        <p14:section name="TOKENS" id="{3ADE79B7-F4DF-4C83-9962-38D211D9F2D5}">
          <p14:sldIdLst>
            <p14:sldId id="262"/>
            <p14:sldId id="265"/>
            <p14:sldId id="306"/>
          </p14:sldIdLst>
        </p14:section>
        <p14:section name="EMBEDDINGS" id="{69C128CC-D70F-440B-A569-AB8321DC477D}">
          <p14:sldIdLst>
            <p14:sldId id="264"/>
            <p14:sldId id="263"/>
            <p14:sldId id="266"/>
            <p14:sldId id="268"/>
            <p14:sldId id="267"/>
            <p14:sldId id="270"/>
            <p14:sldId id="269"/>
          </p14:sldIdLst>
        </p14:section>
        <p14:section name="COMPLETIONS" id="{BD664E15-1FA8-439C-A199-522FF9668C39}">
          <p14:sldIdLst>
            <p14:sldId id="280"/>
            <p14:sldId id="281"/>
            <p14:sldId id="282"/>
            <p14:sldId id="284"/>
          </p14:sldIdLst>
        </p14:section>
        <p14:section name="RAG" id="{E44F3A37-3003-4361-9777-BDBC1D06F7CA}">
          <p14:sldIdLst>
            <p14:sldId id="285"/>
            <p14:sldId id="283"/>
            <p14:sldId id="286"/>
            <p14:sldId id="287"/>
            <p14:sldId id="289"/>
            <p14:sldId id="309"/>
          </p14:sldIdLst>
        </p14:section>
        <p14:section name="AGENTS" id="{4AB66A61-099C-4F61-87BF-62D7AF764DEF}">
          <p14:sldIdLst>
            <p14:sldId id="290"/>
            <p14:sldId id="296"/>
            <p14:sldId id="310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EAA957-32DD-A8CA-8FB4-DA9D6ACF02A8}" name="Craig Loewen" initials="" userId="S::crloewen@microsoft.com::f671ca36-6572-430f-adbc-5de0d3a9fd90" providerId="AD"/>
  <p188:author id="{893CC38B-D2B5-B602-F03D-9FA5D86B6135}" name="Jianye Lu" initials="JL" userId="S::jianyelu@microsoft.com::7c0120d9-6860-4328-97bf-00926befcb6b" providerId="AD"/>
  <p188:author id="{BCEE0DBD-6189-2E6B-5D68-8C29FD3B679A}" name="Bryan Osotio" initials="BO" userId="S::bryano@silverfoxprod.com::c8637d84-43de-46a3-8341-5dfe5659269c" providerId="AD"/>
  <p188:author id="{F52BD2CA-862A-8922-5BA3-64A1C5220EE0}" name="Clint Rutkas" initials="CR" userId="S::crutkas@microsoft.com::d6f60daf-519d-4010-8efb-371636ce949f" providerId="AD"/>
  <p188:author id="{6AFA61D8-796F-555E-A395-B33F90AAF99E}" name="Monica Lueder" initials="ML" userId="S::monical@microsoft.com::75969e72-ba9c-4e32-a4ac-c8f3aeff9ba2" providerId="AD"/>
  <p188:author id="{53029AF5-0023-A208-73B0-B74912BCD0EE}" name="Kayla Cinnamon" initials="KC" userId="S::cinnamon@microsoft.com::42c7edfe-6723-4966-bdec-1c5017e60bc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FFF"/>
    <a:srgbClr val="060702"/>
    <a:srgbClr val="0078D4"/>
    <a:srgbClr val="D7D2CB"/>
    <a:srgbClr val="E8E6DF"/>
    <a:srgbClr val="E1D3C7"/>
    <a:srgbClr val="4EFFFE"/>
    <a:srgbClr val="9BF00E"/>
    <a:srgbClr val="D59DFF"/>
    <a:srgbClr val="7FB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20" autoAdjust="0"/>
    <p:restoredTop sz="94660"/>
  </p:normalViewPr>
  <p:slideViewPr>
    <p:cSldViewPr snapToGrid="0">
      <p:cViewPr>
        <p:scale>
          <a:sx n="200" d="100"/>
          <a:sy n="200" d="100"/>
        </p:scale>
        <p:origin x="-2068" y="-1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668" y="10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commentAuthors" Target="commentAuthor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7/1/2026 6:16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78DAAD-3934-518B-F62A-B32024044E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BE5CB-6A38-415E-A601-C5DE328E214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7/1/2026 6:15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e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3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e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jpe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3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e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jp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B2CB-E17F-657B-15B3-DB0E98286C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44922" y="1948409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D1683EB-8052-DD8D-9241-2E790290F0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44921" y="3485028"/>
            <a:ext cx="5577839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The Software of </a:t>
            </a:r>
            <a:r>
              <a:rPr lang="en-US" dirty="0" err="1"/>
              <a:t>Tomorrrow</a:t>
            </a:r>
            <a:r>
              <a:rPr lang="en-US" dirty="0"/>
              <a:t> – Delivered Today.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49874B-A7F6-D873-41D3-03DCB02A21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921" y="152120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91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199" y="3962399"/>
            <a:ext cx="5577839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The Software of </a:t>
            </a:r>
            <a:r>
              <a:rPr lang="en-US" dirty="0" err="1"/>
              <a:t>Tomorrrow</a:t>
            </a:r>
            <a:r>
              <a:rPr lang="en-US" dirty="0"/>
              <a:t> – Delivered Today.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168319-9987-2C60-6DCC-D542B8BDEC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4199" y="318281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40C98-8BA3-8FE1-8D1D-CD52B65611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7C16A-CB57-4B52-16F1-46EC9146B9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1445" y="601180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A1E400-7BEA-5DAA-C9FD-6AB535DFD1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77660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15E9D-1B9A-F9D6-AAFD-87240CDC59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F0E3A-8E11-B9E6-77DA-936F67762C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3BDD84-7211-1C60-C033-22B94D8830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29F23-BA9E-B0CC-0E0B-57A879219B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B869F-282F-B18A-F8BC-B8285FB6D9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69B6A-11F3-C1B6-1EDA-3135281B3E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23ABDE-B02A-3F1E-AA58-463ED4C21B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741BF-D9C2-1181-68EA-8EDB6ACA62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6D453B-3073-58F7-694F-9512BD804C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00FF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92B67C-E6F5-5E0B-D0DD-351EF9355C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000FF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9DBEA-5037-3989-110D-63F3EC5C97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5216" y="273912"/>
            <a:ext cx="1307016" cy="7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5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B811E0-B33A-BBFB-1572-0865CD9739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84200" y="1746705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5239529-9FBA-2DF5-0EC8-B9A8A03AB7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283323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The Software of </a:t>
            </a:r>
            <a:r>
              <a:rPr lang="en-US" dirty="0" err="1"/>
              <a:t>Tomorrrow</a:t>
            </a:r>
            <a:r>
              <a:rPr lang="en-US" dirty="0"/>
              <a:t> – Delivered Today.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BE55F-45EA-0EF1-794A-A0D4F6E518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4692" y="6019257"/>
            <a:ext cx="1307016" cy="7779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DE24C2-C0E0-7ABB-6D28-04A86D3AB6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84200" y="311903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30062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The Software of </a:t>
            </a:r>
            <a:r>
              <a:rPr lang="en-US" dirty="0" err="1"/>
              <a:t>Tomorrrow</a:t>
            </a:r>
            <a:r>
              <a:rPr lang="en-US" dirty="0"/>
              <a:t> – Delivered Today.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581CD-B69D-FD84-E4CE-B6199EF907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4200" y="247973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9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9490CC-4FE3-700D-548F-33BAEEB487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4200" y="480447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82783-BC42-5658-D5AE-BED6E67358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49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07A47C-950A-D08C-7CA1-B83467EF7B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616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088EA-BB6B-9CF1-E8C9-8C708AD280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207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DD17DB-4DD6-812E-8402-8C84B933F6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39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5A37A-89E1-05D3-BA84-39C314D9EB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0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D015C-464B-083D-FE44-A80C4C7E9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405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5FE20-5D0F-5148-33CD-21E54ECBC0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566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EB6C2-2784-3909-1112-A4CB02FD5E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64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BC75CB-C95D-E17E-E33C-9C75ADB840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922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D8A81E-1AFE-CB99-6564-E7EEDE9AAF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936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A4C18-717E-1E62-CFF9-A4ED2F889F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147" y="5959098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23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723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422629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26482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3531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65256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30844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9576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14317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75454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33936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409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43598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0247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28863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80374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4617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93360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1312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73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2311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101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694826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480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843266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140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F1AE2D-0727-6228-C84F-7ADA770D4A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9120" y="178230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6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5963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Section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511A24-B0D0-EA80-E49A-CDCA025B39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5216" y="178230"/>
            <a:ext cx="1366950" cy="8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8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374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378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14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0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523109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971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70.xml"/><Relationship Id="rId39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65.xml"/><Relationship Id="rId34" Type="http://schemas.openxmlformats.org/officeDocument/2006/relationships/slideLayout" Target="../slideLayouts/slideLayout78.xml"/><Relationship Id="rId42" Type="http://schemas.openxmlformats.org/officeDocument/2006/relationships/slideLayout" Target="../slideLayouts/slideLayout86.xml"/><Relationship Id="rId47" Type="http://schemas.openxmlformats.org/officeDocument/2006/relationships/slideLayout" Target="../slideLayouts/slideLayout91.xml"/><Relationship Id="rId50" Type="http://schemas.openxmlformats.org/officeDocument/2006/relationships/image" Target="../media/image1.svg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68.xml"/><Relationship Id="rId32" Type="http://schemas.openxmlformats.org/officeDocument/2006/relationships/slideLayout" Target="../slideLayouts/slideLayout76.xml"/><Relationship Id="rId37" Type="http://schemas.openxmlformats.org/officeDocument/2006/relationships/slideLayout" Target="../slideLayouts/slideLayout81.xml"/><Relationship Id="rId40" Type="http://schemas.openxmlformats.org/officeDocument/2006/relationships/slideLayout" Target="../slideLayouts/slideLayout84.xml"/><Relationship Id="rId45" Type="http://schemas.openxmlformats.org/officeDocument/2006/relationships/slideLayout" Target="../slideLayouts/slideLayout89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72.xml"/><Relationship Id="rId36" Type="http://schemas.openxmlformats.org/officeDocument/2006/relationships/slideLayout" Target="../slideLayouts/slideLayout80.xml"/><Relationship Id="rId49" Type="http://schemas.openxmlformats.org/officeDocument/2006/relationships/theme" Target="../theme/theme2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75.xml"/><Relationship Id="rId44" Type="http://schemas.openxmlformats.org/officeDocument/2006/relationships/slideLayout" Target="../slideLayouts/slideLayout88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4.xml"/><Relationship Id="rId35" Type="http://schemas.openxmlformats.org/officeDocument/2006/relationships/slideLayout" Target="../slideLayouts/slideLayout79.xml"/><Relationship Id="rId43" Type="http://schemas.openxmlformats.org/officeDocument/2006/relationships/slideLayout" Target="../slideLayouts/slideLayout87.xml"/><Relationship Id="rId48" Type="http://schemas.openxmlformats.org/officeDocument/2006/relationships/slideLayout" Target="../slideLayouts/slideLayout92.xml"/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7.xml"/><Relationship Id="rId38" Type="http://schemas.openxmlformats.org/officeDocument/2006/relationships/slideLayout" Target="../slideLayouts/slideLayout82.xml"/><Relationship Id="rId46" Type="http://schemas.openxmlformats.org/officeDocument/2006/relationships/slideLayout" Target="../slideLayouts/slideLayout90.xml"/><Relationship Id="rId20" Type="http://schemas.openxmlformats.org/officeDocument/2006/relationships/slideLayout" Target="../slideLayouts/slideLayout64.xml"/><Relationship Id="rId41" Type="http://schemas.openxmlformats.org/officeDocument/2006/relationships/slideLayout" Target="../slideLayouts/slideLayout85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7" r:id="rId1"/>
    <p:sldLayoutId id="2147485450" r:id="rId2"/>
    <p:sldLayoutId id="2147485451" r:id="rId3"/>
    <p:sldLayoutId id="2147485452" r:id="rId4"/>
    <p:sldLayoutId id="2147485453" r:id="rId5"/>
    <p:sldLayoutId id="2147485608" r:id="rId6"/>
    <p:sldLayoutId id="2147485455" r:id="rId7"/>
    <p:sldLayoutId id="2147485456" r:id="rId8"/>
    <p:sldLayoutId id="2147485457" r:id="rId9"/>
    <p:sldLayoutId id="2147485458" r:id="rId10"/>
    <p:sldLayoutId id="2147485459" r:id="rId11"/>
    <p:sldLayoutId id="2147485460" r:id="rId12"/>
    <p:sldLayoutId id="2147485461" r:id="rId13"/>
    <p:sldLayoutId id="2147485462" r:id="rId14"/>
    <p:sldLayoutId id="2147485463" r:id="rId15"/>
    <p:sldLayoutId id="2147485464" r:id="rId16"/>
    <p:sldLayoutId id="2147485465" r:id="rId17"/>
    <p:sldLayoutId id="2147485466" r:id="rId18"/>
    <p:sldLayoutId id="2147485470" r:id="rId19"/>
    <p:sldLayoutId id="2147485471" r:id="rId20"/>
    <p:sldLayoutId id="2147485472" r:id="rId21"/>
    <p:sldLayoutId id="2147485473" r:id="rId22"/>
    <p:sldLayoutId id="2147485474" r:id="rId23"/>
    <p:sldLayoutId id="2147485475" r:id="rId24"/>
    <p:sldLayoutId id="2147485476" r:id="rId25"/>
    <p:sldLayoutId id="2147485477" r:id="rId26"/>
    <p:sldLayoutId id="2147485478" r:id="rId27"/>
    <p:sldLayoutId id="2147485479" r:id="rId28"/>
    <p:sldLayoutId id="2147485480" r:id="rId29"/>
    <p:sldLayoutId id="2147485481" r:id="rId30"/>
    <p:sldLayoutId id="2147485484" r:id="rId31"/>
    <p:sldLayoutId id="2147485485" r:id="rId32"/>
    <p:sldLayoutId id="2147485486" r:id="rId33"/>
    <p:sldLayoutId id="2147485487" r:id="rId34"/>
    <p:sldLayoutId id="2147485488" r:id="rId35"/>
    <p:sldLayoutId id="2147485489" r:id="rId36"/>
    <p:sldLayoutId id="2147485490" r:id="rId37"/>
    <p:sldLayoutId id="2147485491" r:id="rId38"/>
    <p:sldLayoutId id="2147485492" r:id="rId39"/>
    <p:sldLayoutId id="2147485493" r:id="rId40"/>
    <p:sldLayoutId id="2147485494" r:id="rId41"/>
    <p:sldLayoutId id="2147485495" r:id="rId42"/>
    <p:sldLayoutId id="2147485496" r:id="rId43"/>
    <p:sldLayoutId id="2147485603" r:id="rId44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01" r:id="rId1"/>
    <p:sldLayoutId id="2147485554" r:id="rId2"/>
    <p:sldLayoutId id="2147485555" r:id="rId3"/>
    <p:sldLayoutId id="2147485556" r:id="rId4"/>
    <p:sldLayoutId id="2147485557" r:id="rId5"/>
    <p:sldLayoutId id="2147485559" r:id="rId6"/>
    <p:sldLayoutId id="2147485560" r:id="rId7"/>
    <p:sldLayoutId id="2147485561" r:id="rId8"/>
    <p:sldLayoutId id="2147485562" r:id="rId9"/>
    <p:sldLayoutId id="2147485563" r:id="rId10"/>
    <p:sldLayoutId id="2147485564" r:id="rId11"/>
    <p:sldLayoutId id="2147485565" r:id="rId12"/>
    <p:sldLayoutId id="2147485566" r:id="rId13"/>
    <p:sldLayoutId id="2147485567" r:id="rId14"/>
    <p:sldLayoutId id="2147485568" r:id="rId15"/>
    <p:sldLayoutId id="2147485569" r:id="rId16"/>
    <p:sldLayoutId id="2147485570" r:id="rId17"/>
    <p:sldLayoutId id="2147485571" r:id="rId18"/>
    <p:sldLayoutId id="2147485572" r:id="rId19"/>
    <p:sldLayoutId id="2147485573" r:id="rId20"/>
    <p:sldLayoutId id="2147485574" r:id="rId21"/>
    <p:sldLayoutId id="2147485575" r:id="rId22"/>
    <p:sldLayoutId id="2147485576" r:id="rId23"/>
    <p:sldLayoutId id="2147485577" r:id="rId24"/>
    <p:sldLayoutId id="2147485578" r:id="rId25"/>
    <p:sldLayoutId id="2147485579" r:id="rId26"/>
    <p:sldLayoutId id="2147485580" r:id="rId27"/>
    <p:sldLayoutId id="2147485581" r:id="rId28"/>
    <p:sldLayoutId id="2147485582" r:id="rId29"/>
    <p:sldLayoutId id="2147485583" r:id="rId30"/>
    <p:sldLayoutId id="2147485584" r:id="rId31"/>
    <p:sldLayoutId id="2147485585" r:id="rId32"/>
    <p:sldLayoutId id="2147485586" r:id="rId33"/>
    <p:sldLayoutId id="2147485587" r:id="rId34"/>
    <p:sldLayoutId id="2147485588" r:id="rId35"/>
    <p:sldLayoutId id="2147485589" r:id="rId36"/>
    <p:sldLayoutId id="2147485590" r:id="rId37"/>
    <p:sldLayoutId id="2147485591" r:id="rId38"/>
    <p:sldLayoutId id="2147485592" r:id="rId39"/>
    <p:sldLayoutId id="2147485593" r:id="rId40"/>
    <p:sldLayoutId id="2147485594" r:id="rId41"/>
    <p:sldLayoutId id="2147485595" r:id="rId42"/>
    <p:sldLayoutId id="2147485596" r:id="rId43"/>
    <p:sldLayoutId id="2147485597" r:id="rId44"/>
    <p:sldLayoutId id="2147485598" r:id="rId45"/>
    <p:sldLayoutId id="2147485599" r:id="rId46"/>
    <p:sldLayoutId id="2147485600" r:id="rId47"/>
    <p:sldLayoutId id="2147485602" r:id="rId48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yte_pair_encoding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openai.com/pricing" TargetMode="External"/><Relationship Id="rId5" Type="http://schemas.openxmlformats.org/officeDocument/2006/relationships/hyperlink" Target="https://help.openai.com/en/articles/4936856-what-are-tokens-and-how-to-count-them" TargetMode="External"/><Relationship Id="rId4" Type="http://schemas.openxmlformats.org/officeDocument/2006/relationships/hyperlink" Target="https://llmtokencounter.com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arxiv.org/abs/2005.11401" TargetMode="Externa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4895FBF-C7A9-4063-C51E-68A83FCB7D2A}"/>
              </a:ext>
            </a:extLst>
          </p:cNvPr>
          <p:cNvSpPr/>
          <p:nvPr/>
        </p:nvSpPr>
        <p:spPr bwMode="auto">
          <a:xfrm>
            <a:off x="451785" y="4097396"/>
            <a:ext cx="6564009" cy="2049419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de-DE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A86AB6-4520-27A5-D83A-1177D5A5B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1" y="2541396"/>
            <a:ext cx="9661620" cy="1261884"/>
          </a:xfrm>
        </p:spPr>
        <p:txBody>
          <a:bodyPr/>
          <a:lstStyle/>
          <a:p>
            <a:r>
              <a:rPr lang="en-US" sz="1800" dirty="0"/>
              <a:t>Deep Dive</a:t>
            </a:r>
            <a:br>
              <a:rPr lang="en-US" sz="3200" dirty="0"/>
            </a:br>
            <a:r>
              <a:rPr lang="en-US" sz="3200" dirty="0"/>
              <a:t>Beyond Basics</a:t>
            </a:r>
            <a:br>
              <a:rPr lang="en-US" sz="3200" dirty="0"/>
            </a:br>
            <a:endParaRPr lang="de-DE" sz="32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40A766-5461-A1F2-A10C-B12C4B04A3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8161" y="1000773"/>
            <a:ext cx="5577839" cy="276999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868CAEFE-3D17-AFD2-984E-8799BF57A500}"/>
              </a:ext>
            </a:extLst>
          </p:cNvPr>
          <p:cNvSpPr txBox="1">
            <a:spLocks/>
          </p:cNvSpPr>
          <p:nvPr/>
        </p:nvSpPr>
        <p:spPr>
          <a:xfrm>
            <a:off x="607174" y="4490852"/>
            <a:ext cx="91440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/>
              <a:t>Dr. Damir Dobric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77B9A-C974-1492-6257-30F9BF11A956}"/>
              </a:ext>
            </a:extLst>
          </p:cNvPr>
          <p:cNvSpPr txBox="1"/>
          <p:nvPr/>
        </p:nvSpPr>
        <p:spPr>
          <a:xfrm>
            <a:off x="451786" y="4826714"/>
            <a:ext cx="6812782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sz="1400" dirty="0"/>
              <a:t>Lead Software Architect daenet GmbH / ACP Digital</a:t>
            </a:r>
          </a:p>
          <a:p>
            <a:pPr>
              <a:lnSpc>
                <a:spcPts val="2100"/>
              </a:lnSpc>
            </a:pPr>
            <a:r>
              <a:rPr lang="en-US" sz="1400" dirty="0"/>
              <a:t>Microsoft Regional Director, </a:t>
            </a:r>
          </a:p>
          <a:p>
            <a:pPr>
              <a:lnSpc>
                <a:spcPts val="2100"/>
              </a:lnSpc>
            </a:pPr>
            <a:r>
              <a:rPr lang="en-US" sz="1400" dirty="0"/>
              <a:t>Most Valuable Professional: </a:t>
            </a:r>
            <a:r>
              <a:rPr lang="en-US" sz="1400" dirty="0" err="1"/>
              <a:t>Azure+AI</a:t>
            </a:r>
            <a:endParaRPr lang="en-DE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805181-A5EE-6A94-001B-907409E6E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782" y="4279369"/>
            <a:ext cx="1813564" cy="179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086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5536-5E16-A43A-A9C7-941F8EE8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</a:t>
            </a:r>
            <a:r>
              <a:rPr lang="en-US" dirty="0" err="1"/>
              <a:t>github</a:t>
            </a:r>
            <a:r>
              <a:rPr lang="en-US" dirty="0"/>
              <a:t> repo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BC283-E85A-9732-8832-04E52DEA0AD6}"/>
              </a:ext>
            </a:extLst>
          </p:cNvPr>
          <p:cNvSpPr txBox="1"/>
          <p:nvPr/>
        </p:nvSpPr>
        <p:spPr>
          <a:xfrm>
            <a:off x="2921496" y="2344864"/>
            <a:ext cx="8612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https://github.com/ddobric/semantic-kernel-training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16AA82-A657-6E24-FBBA-4297A5706CD7}"/>
              </a:ext>
            </a:extLst>
          </p:cNvPr>
          <p:cNvSpPr txBox="1"/>
          <p:nvPr/>
        </p:nvSpPr>
        <p:spPr>
          <a:xfrm>
            <a:off x="3588389" y="3331896"/>
            <a:ext cx="6094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https://tinyurl.com/</a:t>
            </a:r>
            <a:r>
              <a:rPr lang="en-US" sz="2800" b="1" dirty="0"/>
              <a:t>49tf9346</a:t>
            </a:r>
            <a:endParaRPr lang="en-US" sz="24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8C9EC9-A931-B565-FB4A-472C0E5ED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062" y="4535045"/>
            <a:ext cx="2220083" cy="215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6419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7DE9A-D529-4F09-E5A6-4489272D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de-DE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E2F720F-CF6A-DFE9-13B4-C0DF4A47690C}"/>
              </a:ext>
            </a:extLst>
          </p:cNvPr>
          <p:cNvSpPr txBox="1">
            <a:spLocks/>
          </p:cNvSpPr>
          <p:nvPr/>
        </p:nvSpPr>
        <p:spPr>
          <a:xfrm>
            <a:off x="433666" y="1416341"/>
            <a:ext cx="11642165" cy="4634006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var(--font-family-secondary)"/>
              </a:rPr>
              <a:t>Tokens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var(--font-family-secondary)"/>
              </a:rPr>
              <a:t>Embeddings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var(--font-family-secondary)"/>
              </a:rPr>
              <a:t>Completions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var(--font-family-secondary)"/>
              </a:rPr>
              <a:t>Agents in Microsoft Agent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var(--font-family-secondary)"/>
              </a:rPr>
              <a:t>Agents and Foundry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var(--font-family-secondary)"/>
              </a:rPr>
              <a:t>Natural Language to T-SQL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87177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A6A367-F01A-5265-5D54-2A7BF0F5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295" y="1991310"/>
            <a:ext cx="6675120" cy="830997"/>
          </a:xfrm>
        </p:spPr>
        <p:txBody>
          <a:bodyPr/>
          <a:lstStyle/>
          <a:p>
            <a:r>
              <a:rPr lang="en-US" sz="6000" dirty="0"/>
              <a:t>TOKENS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4034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F9EB5-AD57-264F-A96E-05A3F718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tokens?</a:t>
            </a: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B54464-B46C-A7D8-E0BD-DBB526986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07" y="4970825"/>
            <a:ext cx="10269383" cy="1629002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9239A0B-C8A3-1D31-862D-59B7855D229D}"/>
              </a:ext>
            </a:extLst>
          </p:cNvPr>
          <p:cNvSpPr txBox="1">
            <a:spLocks/>
          </p:cNvSpPr>
          <p:nvPr/>
        </p:nvSpPr>
        <p:spPr>
          <a:xfrm>
            <a:off x="433666" y="1416341"/>
            <a:ext cx="11642165" cy="4634006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var(--font-family-secondary)"/>
              </a:rPr>
              <a:t>1 token ~= 4 chars in English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var(--font-family-secondary)"/>
              </a:rPr>
              <a:t>1 token ~= ¾ 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var(--font-family-secondary)"/>
              </a:rPr>
              <a:t>100 tokens ~= 75 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var(--font-family-secondary)"/>
              </a:rPr>
              <a:t>Byte Pare Encoding (Gage,1994): </a:t>
            </a:r>
            <a:r>
              <a:rPr lang="de-DE" dirty="0">
                <a:hlinkClick r:id="rId3"/>
              </a:rPr>
              <a:t>Wikipedia</a:t>
            </a:r>
            <a:endParaRPr lang="de-DE" dirty="0">
              <a:hlinkClick r:id="rId4"/>
            </a:endParaRPr>
          </a:p>
          <a:p>
            <a:r>
              <a:rPr lang="en-US" dirty="0">
                <a:latin typeface="var(--font-family-secondary)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are tokens and how to count them? </a:t>
            </a:r>
            <a:endParaRPr lang="en-US" dirty="0">
              <a:latin typeface="var(--font-family-secondary)"/>
            </a:endParaRPr>
          </a:p>
          <a:p>
            <a:r>
              <a:rPr lang="en-US" dirty="0">
                <a:latin typeface="var(--font-family-secondary)"/>
              </a:rPr>
              <a:t>Token Pricing: </a:t>
            </a:r>
            <a:r>
              <a:rPr lang="de-DE" dirty="0">
                <a:hlinkClick r:id="rId6"/>
              </a:rPr>
              <a:t>Pricing (openai.com)</a:t>
            </a:r>
            <a:endParaRPr lang="en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07763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D8B348-0830-B731-73C2-2DF392C8B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Tokens</a:t>
            </a:r>
            <a:endParaRPr lang="de-D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6EBCC9B-B79E-7B09-C702-41DBBC4A18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216" y="3914053"/>
            <a:ext cx="5118524" cy="129266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Tokenizer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Creating tokens in C#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3C2816-F8BE-C36D-74E9-117AF904F2A7}"/>
              </a:ext>
            </a:extLst>
          </p:cNvPr>
          <p:cNvSpPr txBox="1"/>
          <p:nvPr/>
        </p:nvSpPr>
        <p:spPr>
          <a:xfrm>
            <a:off x="517155" y="6100547"/>
            <a:ext cx="8668512" cy="36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.\src\SKTrainingSolution\</a:t>
            </a:r>
            <a:r>
              <a:rPr lang="en-US" dirty="0" err="1">
                <a:solidFill>
                  <a:schemeClr val="bg1"/>
                </a:solidFill>
              </a:rPr>
              <a:t>semantickernelsample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WorkingWithTokens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8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C75F4-AD5A-CCA6-DB41-D8AD5EEC9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DEA649-BD54-94B6-70D1-7917D9FF8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295" y="1991310"/>
            <a:ext cx="6675120" cy="830997"/>
          </a:xfrm>
        </p:spPr>
        <p:txBody>
          <a:bodyPr/>
          <a:lstStyle/>
          <a:p>
            <a:r>
              <a:rPr lang="en-US" sz="6000" dirty="0"/>
              <a:t>EMBEDDINGS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3889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6368-1E25-C22F-3940-FDA448E9A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embedding Vector?</a:t>
            </a: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849201-44F7-B693-38EE-CF07FCC6CF0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584200" y="1797109"/>
            <a:ext cx="11018838" cy="410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1986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2FCF3-98CC-A64B-E8F6-E7EE64219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6EED289-9C8C-AE49-34F8-2F8F87F7B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Models</a:t>
            </a:r>
            <a:endParaRPr lang="de-DE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7E04CAC-9672-5E08-0718-1F98965B409F}"/>
              </a:ext>
            </a:extLst>
          </p:cNvPr>
          <p:cNvCxnSpPr>
            <a:cxnSpLocks/>
          </p:cNvCxnSpPr>
          <p:nvPr/>
        </p:nvCxnSpPr>
        <p:spPr>
          <a:xfrm flipV="1">
            <a:off x="5423264" y="1630043"/>
            <a:ext cx="0" cy="274955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698B67F-CDD3-3B5C-224A-DC4705B3C53F}"/>
              </a:ext>
            </a:extLst>
          </p:cNvPr>
          <p:cNvSpPr txBox="1"/>
          <p:nvPr/>
        </p:nvSpPr>
        <p:spPr>
          <a:xfrm>
            <a:off x="6133148" y="120269"/>
            <a:ext cx="394236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+mn-cs"/>
              </a:rPr>
              <a:t>Guess, today is a nice day in Palma</a:t>
            </a:r>
            <a:endParaRPr kumimoji="0" lang="en-DE" sz="2000" b="0" i="0" u="none" strike="noStrike" kern="1200" cap="none" spc="0" normalizeH="0" baseline="0" noProof="0" dirty="0" err="1">
              <a:ln>
                <a:noFill/>
              </a:ln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C957CC-7710-4724-6BD0-644B6A444AA8}"/>
              </a:ext>
            </a:extLst>
          </p:cNvPr>
          <p:cNvCxnSpPr>
            <a:cxnSpLocks/>
          </p:cNvCxnSpPr>
          <p:nvPr/>
        </p:nvCxnSpPr>
        <p:spPr>
          <a:xfrm>
            <a:off x="5000534" y="4023993"/>
            <a:ext cx="417195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F925812-C185-C9AB-F5AD-89BCB6AEE767}"/>
              </a:ext>
            </a:extLst>
          </p:cNvPr>
          <p:cNvCxnSpPr>
            <a:cxnSpLocks/>
          </p:cNvCxnSpPr>
          <p:nvPr/>
        </p:nvCxnSpPr>
        <p:spPr>
          <a:xfrm flipH="1">
            <a:off x="3209834" y="3762087"/>
            <a:ext cx="2520950" cy="2014506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80714E1-B4B2-BD72-335C-F7113C9C48D9}"/>
              </a:ext>
            </a:extLst>
          </p:cNvPr>
          <p:cNvSpPr txBox="1"/>
          <p:nvPr/>
        </p:nvSpPr>
        <p:spPr>
          <a:xfrm>
            <a:off x="2949064" y="1152487"/>
            <a:ext cx="397416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latin typeface="Segoe UI"/>
              </a:rPr>
              <a:t>Today is a typical German rainy day</a:t>
            </a:r>
            <a:endParaRPr lang="en-DE" sz="2000" dirty="0" err="1">
              <a:latin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AD6365-9D68-0024-10D8-974176D13B3E}"/>
              </a:ext>
            </a:extLst>
          </p:cNvPr>
          <p:cNvSpPr txBox="1"/>
          <p:nvPr/>
        </p:nvSpPr>
        <p:spPr>
          <a:xfrm>
            <a:off x="3575673" y="5387852"/>
            <a:ext cx="5015505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latin typeface="Segoe UI"/>
              </a:rPr>
              <a:t>Two things are infinite: the universe and human stupidity; and I'm not sure about the universe.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A8F317-0D46-5528-1E85-2F64C1470E2E}"/>
              </a:ext>
            </a:extLst>
          </p:cNvPr>
          <p:cNvSpPr/>
          <p:nvPr/>
        </p:nvSpPr>
        <p:spPr bwMode="auto">
          <a:xfrm>
            <a:off x="7893869" y="541733"/>
            <a:ext cx="210460" cy="228600"/>
          </a:xfrm>
          <a:prstGeom prst="ellipse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DE" sz="20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C7EBD9-AA87-568F-48C9-664AF2E72DB7}"/>
              </a:ext>
            </a:extLst>
          </p:cNvPr>
          <p:cNvSpPr/>
          <p:nvPr/>
        </p:nvSpPr>
        <p:spPr bwMode="auto">
          <a:xfrm>
            <a:off x="6988530" y="1156760"/>
            <a:ext cx="320671" cy="307767"/>
          </a:xfrm>
          <a:prstGeom prst="ellipse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DE" sz="20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CEDC2D9-9D95-9959-C6AF-D70D44C47191}"/>
              </a:ext>
            </a:extLst>
          </p:cNvPr>
          <p:cNvSpPr/>
          <p:nvPr/>
        </p:nvSpPr>
        <p:spPr bwMode="auto">
          <a:xfrm>
            <a:off x="6712769" y="5062602"/>
            <a:ext cx="210460" cy="228600"/>
          </a:xfrm>
          <a:prstGeom prst="ellipse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DE" sz="20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A47BC6-6080-517F-AA76-B4CD4722BC93}"/>
              </a:ext>
            </a:extLst>
          </p:cNvPr>
          <p:cNvCxnSpPr>
            <a:cxnSpLocks/>
            <a:endCxn id="12" idx="3"/>
          </p:cNvCxnSpPr>
          <p:nvPr/>
        </p:nvCxnSpPr>
        <p:spPr>
          <a:xfrm flipV="1">
            <a:off x="5423262" y="1419456"/>
            <a:ext cx="1612229" cy="2604536"/>
          </a:xfrm>
          <a:prstGeom prst="straightConnector1">
            <a:avLst/>
          </a:prstGeom>
          <a:ln w="3175">
            <a:solidFill>
              <a:srgbClr val="8CE87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B08EAD-AA2F-FD7C-3DDE-837A62365043}"/>
              </a:ext>
            </a:extLst>
          </p:cNvPr>
          <p:cNvCxnSpPr>
            <a:cxnSpLocks/>
            <a:endCxn id="11" idx="3"/>
          </p:cNvCxnSpPr>
          <p:nvPr/>
        </p:nvCxnSpPr>
        <p:spPr>
          <a:xfrm flipV="1">
            <a:off x="5423263" y="736855"/>
            <a:ext cx="2501427" cy="3287138"/>
          </a:xfrm>
          <a:prstGeom prst="straightConnector1">
            <a:avLst/>
          </a:prstGeom>
          <a:ln w="3175">
            <a:solidFill>
              <a:srgbClr val="8CE87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AA90AC-10EC-0F4A-5FA8-D936DB996536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423263" y="4023993"/>
            <a:ext cx="1320327" cy="1072087"/>
          </a:xfrm>
          <a:prstGeom prst="straightConnector1">
            <a:avLst/>
          </a:prstGeom>
          <a:ln w="3175">
            <a:solidFill>
              <a:srgbClr val="8CE87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496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E331C-40DD-1515-1724-FA859546F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ED9A456-4ADB-5A70-BEFB-4CA3ED591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Models</a:t>
            </a: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B79CD3-FE37-2928-57B6-266C399D4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739" y="1822448"/>
            <a:ext cx="7188521" cy="402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942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B874F-6902-BD3D-5E7D-813355E68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Cosine Similarity</a:t>
            </a:r>
            <a:endParaRPr lang="de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D50AC7-BE82-AC0F-CDD7-BEE8D400E810}"/>
              </a:ext>
            </a:extLst>
          </p:cNvPr>
          <p:cNvSpPr/>
          <p:nvPr/>
        </p:nvSpPr>
        <p:spPr bwMode="auto">
          <a:xfrm>
            <a:off x="3918705" y="1652213"/>
            <a:ext cx="6490252" cy="418934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DE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0CFFC1-3BCB-E8C7-388C-26B63CDBA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051" y="1915130"/>
            <a:ext cx="5569560" cy="6362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93F439-BEB3-E873-53DB-4F392A38A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119" y="3220954"/>
            <a:ext cx="4232298" cy="1051863"/>
          </a:xfrm>
          <a:prstGeom prst="rect">
            <a:avLst/>
          </a:prstGeom>
        </p:spPr>
      </p:pic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D96A5C8C-C726-FB37-F7B3-85374BFA42E0}"/>
              </a:ext>
            </a:extLst>
          </p:cNvPr>
          <p:cNvSpPr txBox="1">
            <a:spLocks/>
          </p:cNvSpPr>
          <p:nvPr/>
        </p:nvSpPr>
        <p:spPr>
          <a:xfrm>
            <a:off x="274917" y="1438088"/>
            <a:ext cx="2990087" cy="4050340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r>
              <a:rPr lang="de-DE" dirty="0"/>
              <a:t>Dot Product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The Norm</a:t>
            </a:r>
          </a:p>
          <a:p>
            <a:pPr marL="0" indent="0">
              <a:buNone/>
            </a:pPr>
            <a:br>
              <a:rPr lang="de-DE" dirty="0"/>
            </a:br>
            <a:endParaRPr lang="de-DE" dirty="0"/>
          </a:p>
          <a:p>
            <a:r>
              <a:rPr lang="de-DE" dirty="0" err="1"/>
              <a:t>Cosine</a:t>
            </a:r>
            <a:r>
              <a:rPr lang="de-DE" dirty="0"/>
              <a:t> </a:t>
            </a:r>
            <a:r>
              <a:rPr lang="de-DE" dirty="0" err="1"/>
              <a:t>Similarity</a:t>
            </a:r>
            <a:endParaRPr lang="en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45BD78-DA22-6A1F-7E29-59558544B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567" y="5016671"/>
            <a:ext cx="3248897" cy="47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3003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B83377-BA07-9BF9-0065-58E70BC4D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855" y="2065530"/>
            <a:ext cx="6400800" cy="553998"/>
          </a:xfrm>
        </p:spPr>
        <p:txBody>
          <a:bodyPr/>
          <a:lstStyle/>
          <a:p>
            <a:r>
              <a:rPr lang="en-US" dirty="0"/>
              <a:t>DEMO</a:t>
            </a:r>
            <a:endParaRPr lang="de-D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0F1D3F-AF2B-295D-D1DB-37B524AB5A76}"/>
              </a:ext>
            </a:extLst>
          </p:cNvPr>
          <p:cNvSpPr txBox="1">
            <a:spLocks/>
          </p:cNvSpPr>
          <p:nvPr/>
        </p:nvSpPr>
        <p:spPr>
          <a:xfrm>
            <a:off x="700864" y="2946738"/>
            <a:ext cx="8047703" cy="21544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600" kern="1200" spc="0" baseline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Consuming Embedding Model </a:t>
            </a:r>
            <a:br>
              <a:rPr lang="en-US" sz="2800" dirty="0"/>
            </a:br>
            <a:r>
              <a:rPr lang="en-US" sz="2800" dirty="0"/>
              <a:t>with HTTP/Post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Creating Embeddings in C#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Semantic Similarity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C2BF68-D203-E3E1-98CD-35DE0C3E9BE2}"/>
              </a:ext>
            </a:extLst>
          </p:cNvPr>
          <p:cNvSpPr txBox="1"/>
          <p:nvPr/>
        </p:nvSpPr>
        <p:spPr>
          <a:xfrm>
            <a:off x="664938" y="6355410"/>
            <a:ext cx="8668512" cy="36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.\src\OpenAI.Samples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3E0D1B-0522-3E24-1837-D611F14A26CD}"/>
              </a:ext>
            </a:extLst>
          </p:cNvPr>
          <p:cNvSpPr txBox="1"/>
          <p:nvPr/>
        </p:nvSpPr>
        <p:spPr>
          <a:xfrm>
            <a:off x="715325" y="5064438"/>
            <a:ext cx="6811860" cy="907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.\src\OpenAI.Samples\</a:t>
            </a:r>
            <a:r>
              <a:rPr lang="de-DE" dirty="0" err="1">
                <a:solidFill>
                  <a:schemeClr val="bg1"/>
                </a:solidFill>
              </a:rPr>
              <a:t>Program.cs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Sample: </a:t>
            </a:r>
            <a:r>
              <a:rPr lang="de-DE" dirty="0" err="1">
                <a:solidFill>
                  <a:schemeClr val="bg1"/>
                </a:solidFill>
              </a:rPr>
              <a:t>CreateEmbeddingsAsync</a:t>
            </a:r>
            <a:r>
              <a:rPr lang="de-DE" dirty="0">
                <a:solidFill>
                  <a:schemeClr val="bg1"/>
                </a:solidFill>
              </a:rPr>
              <a:t>()</a:t>
            </a:r>
          </a:p>
          <a:p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66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CFE8-D7BA-4406-5454-4ECF4B3A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embeddings?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E9951-02E2-75BA-9B15-CA29ECBF15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3533275"/>
          </a:xfrm>
        </p:spPr>
        <p:txBody>
          <a:bodyPr/>
          <a:lstStyle/>
          <a:p>
            <a:r>
              <a:rPr lang="de-DE" dirty="0"/>
              <a:t>Semantic Search</a:t>
            </a:r>
          </a:p>
          <a:p>
            <a:r>
              <a:rPr lang="de-DE" dirty="0"/>
              <a:t>Classification</a:t>
            </a:r>
          </a:p>
          <a:p>
            <a:r>
              <a:rPr lang="de-DE" dirty="0"/>
              <a:t>Clustering</a:t>
            </a:r>
          </a:p>
          <a:p>
            <a:r>
              <a:rPr lang="de-DE" dirty="0" err="1"/>
              <a:t>Recommendations</a:t>
            </a:r>
            <a:endParaRPr lang="de-DE" dirty="0"/>
          </a:p>
          <a:p>
            <a:r>
              <a:rPr lang="de-DE" dirty="0"/>
              <a:t>. . .</a:t>
            </a:r>
          </a:p>
          <a:p>
            <a:endParaRPr lang="en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95612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9E72-13F0-47E8-AF37-EEB8F153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06E1AB-BCAE-E6D6-ADCB-136DEE2BB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239" y="2217813"/>
            <a:ext cx="7758861" cy="830997"/>
          </a:xfrm>
        </p:spPr>
        <p:txBody>
          <a:bodyPr/>
          <a:lstStyle/>
          <a:p>
            <a:r>
              <a:rPr lang="en-US" sz="6000" dirty="0"/>
              <a:t>COMPLETIONS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220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1AD778-E058-B284-A811-C86A3A08A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Complete Text</a:t>
            </a:r>
            <a:endParaRPr lang="de-DE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640A33A-4118-C107-B162-8B1B0824F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14449" y="1159693"/>
            <a:ext cx="7188199" cy="4798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18478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5C9D8-99D5-CE0D-DCB5-4C582F1DB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</a:t>
            </a:r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F2ED39-508B-70BF-1C20-99BE666EB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74152" y="1469813"/>
            <a:ext cx="4930987" cy="493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247988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F8358F-8353-BD40-C035-BD295A46F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590025"/>
            <a:ext cx="6400800" cy="941796"/>
          </a:xfrm>
        </p:spPr>
        <p:txBody>
          <a:bodyPr/>
          <a:lstStyle/>
          <a:p>
            <a:r>
              <a:rPr lang="en-US" dirty="0"/>
              <a:t>Completing Text</a:t>
            </a:r>
            <a:br>
              <a:rPr lang="en-US" dirty="0"/>
            </a:br>
            <a:r>
              <a:rPr lang="en-US" sz="2800" dirty="0"/>
              <a:t>Under the hub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6B9628-B518-865A-A510-DEED21EDE4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216" y="3977319"/>
            <a:ext cx="6400800" cy="172354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C#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Using OpenAI </a:t>
            </a:r>
            <a:r>
              <a:rPr lang="en-US" sz="2400" dirty="0" err="1"/>
              <a:t>nuget</a:t>
            </a:r>
            <a:r>
              <a:rPr lang="en-US" sz="2400" dirty="0"/>
              <a:t> package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Executing </a:t>
            </a:r>
            <a:r>
              <a:rPr lang="en-US" sz="2400" dirty="0" err="1"/>
              <a:t>ChatCompletions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Presenting Probabilities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96DDFB-D405-2B0C-8D5D-51D8FF84A1D7}"/>
              </a:ext>
            </a:extLst>
          </p:cNvPr>
          <p:cNvSpPr txBox="1"/>
          <p:nvPr/>
        </p:nvSpPr>
        <p:spPr>
          <a:xfrm>
            <a:off x="585216" y="5782420"/>
            <a:ext cx="6811860" cy="907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.\</a:t>
            </a:r>
            <a:r>
              <a:rPr lang="de-DE" dirty="0" err="1">
                <a:solidFill>
                  <a:schemeClr val="bg1"/>
                </a:solidFill>
              </a:rPr>
              <a:t>src</a:t>
            </a:r>
            <a:r>
              <a:rPr lang="de-DE" dirty="0">
                <a:solidFill>
                  <a:schemeClr val="bg1"/>
                </a:solidFill>
              </a:rPr>
              <a:t>\</a:t>
            </a:r>
            <a:r>
              <a:rPr lang="de-DE" dirty="0" err="1">
                <a:solidFill>
                  <a:schemeClr val="bg1"/>
                </a:solidFill>
              </a:rPr>
              <a:t>OpenAI.Samples</a:t>
            </a:r>
            <a:r>
              <a:rPr lang="de-DE" dirty="0">
                <a:solidFill>
                  <a:schemeClr val="bg1"/>
                </a:solidFill>
              </a:rPr>
              <a:t> 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Sample: </a:t>
            </a:r>
            <a:r>
              <a:rPr lang="de-DE" dirty="0" err="1">
                <a:solidFill>
                  <a:schemeClr val="bg1"/>
                </a:solidFill>
              </a:rPr>
              <a:t>ChatCompletionsAsync</a:t>
            </a:r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438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CCEB8-6AD6-48BD-39FD-2D3584698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E84477-A03E-796A-7922-7861C4A07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38" y="1988606"/>
            <a:ext cx="9570884" cy="1440394"/>
          </a:xfrm>
        </p:spPr>
        <p:txBody>
          <a:bodyPr/>
          <a:lstStyle/>
          <a:p>
            <a:r>
              <a:rPr lang="en-US" sz="4400" dirty="0"/>
              <a:t>Retrieval Augmented Generation</a:t>
            </a:r>
            <a:br>
              <a:rPr lang="en-US" sz="6000" dirty="0"/>
            </a:br>
            <a:r>
              <a:rPr lang="en-US" sz="6000" dirty="0"/>
              <a:t>R A 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2543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43F54-2995-E037-7270-A8DAC7707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/>
              <a:t>What is RAG?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5E600-10F1-1176-16A8-E1F905C9E6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6740" y="2510505"/>
            <a:ext cx="11018520" cy="2412968"/>
          </a:xfrm>
        </p:spPr>
        <p:txBody>
          <a:bodyPr/>
          <a:lstStyle/>
          <a:p>
            <a:r>
              <a:rPr lang="en-US" dirty="0"/>
              <a:t>Extending the model knowledge</a:t>
            </a:r>
          </a:p>
          <a:p>
            <a:r>
              <a:rPr lang="en-US" dirty="0"/>
              <a:t>Combines information retrieval </a:t>
            </a:r>
            <a:br>
              <a:rPr lang="en-US" dirty="0"/>
            </a:br>
            <a:r>
              <a:rPr lang="en-US" dirty="0"/>
              <a:t>with text generation</a:t>
            </a:r>
          </a:p>
          <a:p>
            <a:endParaRPr lang="en-US" dirty="0"/>
          </a:p>
          <a:p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67428-4812-784A-DC82-F71D87FB25C5}"/>
              </a:ext>
            </a:extLst>
          </p:cNvPr>
          <p:cNvSpPr txBox="1"/>
          <p:nvPr/>
        </p:nvSpPr>
        <p:spPr>
          <a:xfrm>
            <a:off x="592595" y="6165876"/>
            <a:ext cx="6241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https://arxiv.org/abs/2005.11401</a:t>
            </a:r>
            <a:r>
              <a:rPr lang="en-US" dirty="0"/>
              <a:t> 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D143030-90ED-2372-2B2C-82BCE4A2F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044084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E3019-7438-948C-EE9D-E469FBF0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Demos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6479BD-BC96-2C1A-A8EA-6DCE773648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216" y="3968930"/>
            <a:ext cx="6400800" cy="196977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Creating chunks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Creating 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InMemory</a:t>
            </a:r>
            <a:r>
              <a:rPr lang="en-US" sz="2800" dirty="0"/>
              <a:t> Vector 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Calculating Similarity</a:t>
            </a:r>
          </a:p>
          <a:p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3C5E6-F647-1788-2AE6-171C359C9C2F}"/>
              </a:ext>
            </a:extLst>
          </p:cNvPr>
          <p:cNvSpPr txBox="1"/>
          <p:nvPr/>
        </p:nvSpPr>
        <p:spPr>
          <a:xfrm>
            <a:off x="379686" y="5977355"/>
            <a:ext cx="6811860" cy="907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.\</a:t>
            </a:r>
            <a:r>
              <a:rPr lang="de-DE" dirty="0" err="1">
                <a:solidFill>
                  <a:schemeClr val="bg1"/>
                </a:solidFill>
              </a:rPr>
              <a:t>src</a:t>
            </a:r>
            <a:r>
              <a:rPr lang="de-DE" dirty="0">
                <a:solidFill>
                  <a:schemeClr val="bg1"/>
                </a:solidFill>
              </a:rPr>
              <a:t>\</a:t>
            </a:r>
            <a:r>
              <a:rPr lang="de-DE" dirty="0" err="1">
                <a:solidFill>
                  <a:schemeClr val="bg1"/>
                </a:solidFill>
              </a:rPr>
              <a:t>SKTrainingSolution</a:t>
            </a:r>
            <a:r>
              <a:rPr lang="de-DE" dirty="0">
                <a:solidFill>
                  <a:schemeClr val="bg1"/>
                </a:solidFill>
              </a:rPr>
              <a:t>\</a:t>
            </a:r>
            <a:r>
              <a:rPr lang="de-DE" dirty="0" err="1">
                <a:solidFill>
                  <a:schemeClr val="bg1"/>
                </a:solidFill>
              </a:rPr>
              <a:t>semantickernelsample</a:t>
            </a:r>
            <a:r>
              <a:rPr lang="de-DE" dirty="0">
                <a:solidFill>
                  <a:schemeClr val="bg1"/>
                </a:solidFill>
              </a:rPr>
              <a:t>\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Samples: </a:t>
            </a:r>
            <a:r>
              <a:rPr lang="de-DE" dirty="0" err="1">
                <a:solidFill>
                  <a:schemeClr val="bg1"/>
                </a:solidFill>
              </a:rPr>
              <a:t>RagSample.cs</a:t>
            </a:r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834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88D8-4DD0-2184-38F4-99B0E3235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with RAG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D4000-DE26-B0FC-015D-BE3A1B9B6F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283369"/>
            <a:ext cx="11018520" cy="4801314"/>
          </a:xfrm>
        </p:spPr>
        <p:txBody>
          <a:bodyPr/>
          <a:lstStyle/>
          <a:p>
            <a:r>
              <a:rPr lang="en-US" sz="2400" dirty="0"/>
              <a:t>In a typical RAG pipeline: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You convert a query into an </a:t>
            </a:r>
            <a:r>
              <a:rPr lang="en-US" sz="2400" b="1" dirty="0"/>
              <a:t>embedding</a:t>
            </a:r>
            <a:r>
              <a:rPr lang="en-US" sz="2400" dirty="0"/>
              <a:t>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You search a vector database for similar embeddings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You retrieve the top </a:t>
            </a:r>
            <a:r>
              <a:rPr lang="en-US" sz="2400" i="1" dirty="0"/>
              <a:t>k</a:t>
            </a:r>
            <a:r>
              <a:rPr lang="en-US" sz="2400" dirty="0"/>
              <a:t> chunks (e.g., top 5 or 10) </a:t>
            </a:r>
          </a:p>
          <a:p>
            <a:r>
              <a:rPr lang="en-US" sz="2400" dirty="0"/>
              <a:t>The issue:</a:t>
            </a:r>
            <a:br>
              <a:rPr lang="en-US" sz="2400" dirty="0"/>
            </a:br>
            <a:r>
              <a:rPr lang="en-US" sz="2400" dirty="0"/>
              <a:t>👉 </a:t>
            </a:r>
            <a:r>
              <a:rPr lang="en-US" sz="2400" b="1" dirty="0"/>
              <a:t>Embedding similarity ≠ true relevance</a:t>
            </a:r>
            <a:endParaRPr lang="en-US" sz="2400" dirty="0"/>
          </a:p>
          <a:p>
            <a:r>
              <a:rPr lang="en-US" sz="2400" dirty="0"/>
              <a:t>Why?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Embeddings capture </a:t>
            </a:r>
            <a:r>
              <a:rPr lang="en-US" sz="2400" i="1" dirty="0"/>
              <a:t>semantic similarity</a:t>
            </a:r>
            <a:r>
              <a:rPr lang="en-US" sz="2400" dirty="0"/>
              <a:t>, not exact intent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They can miss nuance (negation, context, specificity)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You often get “kind of related” chunks instead of “exactly what you need”</a:t>
            </a:r>
          </a:p>
          <a:p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06616070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80D5C-8B3E-64CE-ED2E-695C9515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Reranking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B123F-EF6F-B6C2-A88E-2C67E892C6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3964162"/>
          </a:xfrm>
        </p:spPr>
        <p:txBody>
          <a:bodyPr/>
          <a:lstStyle/>
          <a:p>
            <a:r>
              <a:rPr lang="en-US" b="1" dirty="0"/>
              <a:t>Reranking = a second, smarter filtering step</a:t>
            </a:r>
            <a:endParaRPr lang="en-US" dirty="0"/>
          </a:p>
          <a:p>
            <a:r>
              <a:rPr lang="en-US" dirty="0"/>
              <a:t>After retrieval:</a:t>
            </a:r>
          </a:p>
          <a:p>
            <a:pPr>
              <a:buFont typeface="+mj-lt"/>
              <a:buAutoNum type="arabicPeriod"/>
            </a:pPr>
            <a:r>
              <a:rPr lang="en-US" dirty="0"/>
              <a:t>You take the top </a:t>
            </a:r>
            <a:r>
              <a:rPr lang="en-US" i="1" dirty="0"/>
              <a:t>k</a:t>
            </a:r>
            <a:r>
              <a:rPr lang="en-US" dirty="0"/>
              <a:t> candidates (e.g., 20 chunks) </a:t>
            </a:r>
          </a:p>
          <a:p>
            <a:pPr>
              <a:buFont typeface="+mj-lt"/>
              <a:buAutoNum type="arabicPeriod"/>
            </a:pPr>
            <a:r>
              <a:rPr lang="en-US" dirty="0"/>
              <a:t>You pass them—together with the query—into a </a:t>
            </a:r>
            <a:r>
              <a:rPr lang="en-US" b="1" dirty="0" err="1"/>
              <a:t>reranker</a:t>
            </a:r>
            <a:r>
              <a:rPr lang="en-US" b="1" dirty="0"/>
              <a:t> model</a:t>
            </a:r>
            <a:r>
              <a:rPr lang="en-US" dirty="0"/>
              <a:t> 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model scores each chunk based on </a:t>
            </a:r>
            <a:r>
              <a:rPr lang="en-US" b="1" dirty="0"/>
              <a:t>actual relevance to the query</a:t>
            </a:r>
            <a:r>
              <a:rPr lang="en-US" dirty="0"/>
              <a:t> </a:t>
            </a:r>
          </a:p>
          <a:p>
            <a:pPr>
              <a:buFont typeface="+mj-lt"/>
              <a:buAutoNum type="arabicPeriod"/>
            </a:pPr>
            <a:r>
              <a:rPr lang="en-US" dirty="0"/>
              <a:t>You keep the best </a:t>
            </a:r>
            <a:r>
              <a:rPr lang="en-US" i="1" dirty="0"/>
              <a:t>n</a:t>
            </a:r>
            <a:r>
              <a:rPr lang="en-US" dirty="0"/>
              <a:t> (e.g., top 3–5)</a:t>
            </a:r>
          </a:p>
          <a:p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B4CD52-CB8F-FB2A-378D-45A13BFE0C2D}"/>
              </a:ext>
            </a:extLst>
          </p:cNvPr>
          <p:cNvSpPr txBox="1"/>
          <p:nvPr/>
        </p:nvSpPr>
        <p:spPr>
          <a:xfrm>
            <a:off x="2105636" y="5639731"/>
            <a:ext cx="6811860" cy="36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Score how relevant this document is to the query from 3-5</a:t>
            </a:r>
          </a:p>
        </p:txBody>
      </p:sp>
    </p:spTree>
    <p:extLst>
      <p:ext uri="{BB962C8B-B14F-4D97-AF65-F5344CB8AC3E}">
        <p14:creationId xmlns:p14="http://schemas.microsoft.com/office/powerpoint/2010/main" val="133829794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E3019-7438-948C-EE9D-E469FBF00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6" y="1676073"/>
            <a:ext cx="6400800" cy="553998"/>
          </a:xfrm>
        </p:spPr>
        <p:txBody>
          <a:bodyPr/>
          <a:lstStyle/>
          <a:p>
            <a:r>
              <a:rPr lang="en-US" dirty="0"/>
              <a:t>RAG Demo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6479BD-BC96-2C1A-A8EA-6DCE773648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1716" y="2667180"/>
            <a:ext cx="6400800" cy="67710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RAG Agent with context</a:t>
            </a:r>
          </a:p>
          <a:p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3C5E6-F647-1788-2AE6-171C359C9C2F}"/>
              </a:ext>
            </a:extLst>
          </p:cNvPr>
          <p:cNvSpPr txBox="1"/>
          <p:nvPr/>
        </p:nvSpPr>
        <p:spPr>
          <a:xfrm>
            <a:off x="316186" y="5964655"/>
            <a:ext cx="6811860" cy="635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.\src\Agents\</a:t>
            </a:r>
            <a:r>
              <a:rPr lang="de-DE" dirty="0" err="1">
                <a:solidFill>
                  <a:schemeClr val="bg1"/>
                </a:solidFill>
              </a:rPr>
              <a:t>RagAgent</a:t>
            </a:r>
            <a:br>
              <a:rPr lang="de-DE" dirty="0">
                <a:solidFill>
                  <a:schemeClr val="bg1"/>
                </a:solidFill>
              </a:rPr>
            </a:b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60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B1C56-9ED0-5637-465B-6722B46F5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E63B0C-23A5-001F-FA21-AC63120C8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38" y="2321004"/>
            <a:ext cx="9570884" cy="1107996"/>
          </a:xfrm>
        </p:spPr>
        <p:txBody>
          <a:bodyPr/>
          <a:lstStyle/>
          <a:p>
            <a:r>
              <a:rPr lang="en-US" sz="4400" dirty="0"/>
              <a:t>AGENTS</a:t>
            </a:r>
            <a:br>
              <a:rPr lang="en-US" sz="4400" dirty="0"/>
            </a:br>
            <a:r>
              <a:rPr lang="en-US" sz="3600" dirty="0"/>
              <a:t>Microsoft Agent Framework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7006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D3787-D029-E042-1476-0B4C96E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E7C6B3-03F3-7B2D-DBE5-06E0ED456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04" y="2029867"/>
            <a:ext cx="6400800" cy="553998"/>
          </a:xfrm>
        </p:spPr>
        <p:txBody>
          <a:bodyPr/>
          <a:lstStyle/>
          <a:p>
            <a:r>
              <a:rPr lang="en-US" dirty="0"/>
              <a:t>MAF Demos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4B5A9-BDA3-CA69-73E6-AFC704ED78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8104" y="3020974"/>
            <a:ext cx="6400800" cy="196977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Foundry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Hosted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Simple 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Session</a:t>
            </a:r>
          </a:p>
          <a:p>
            <a:endParaRPr lang="de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8F69DC-B7A1-42C5-5CF2-E8F8844BFCCB}"/>
              </a:ext>
            </a:extLst>
          </p:cNvPr>
          <p:cNvSpPr txBox="1"/>
          <p:nvPr/>
        </p:nvSpPr>
        <p:spPr>
          <a:xfrm>
            <a:off x="312574" y="5217246"/>
            <a:ext cx="6811860" cy="1178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src</a:t>
            </a:r>
            <a:r>
              <a:rPr lang="de-DE" dirty="0">
                <a:solidFill>
                  <a:schemeClr val="bg1"/>
                </a:solidFill>
              </a:rPr>
              <a:t>\</a:t>
            </a:r>
            <a:r>
              <a:rPr lang="de-DE" dirty="0" err="1">
                <a:solidFill>
                  <a:schemeClr val="bg1"/>
                </a:solidFill>
              </a:rPr>
              <a:t>Agents</a:t>
            </a:r>
            <a:r>
              <a:rPr lang="de-DE" dirty="0">
                <a:solidFill>
                  <a:schemeClr val="bg1"/>
                </a:solidFill>
              </a:rPr>
              <a:t>\</a:t>
            </a:r>
            <a:r>
              <a:rPr lang="de-DE" dirty="0" err="1">
                <a:solidFill>
                  <a:schemeClr val="bg1"/>
                </a:solidFill>
              </a:rPr>
              <a:t>AgentFrameworkSamples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1_HelloAgents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 err="1">
                <a:solidFill>
                  <a:schemeClr val="bg1"/>
                </a:solidFill>
              </a:rPr>
              <a:t>RunAsync</a:t>
            </a:r>
            <a:r>
              <a:rPr lang="de-DE" dirty="0">
                <a:solidFill>
                  <a:schemeClr val="bg1"/>
                </a:solidFill>
              </a:rPr>
              <a:t> {Run </a:t>
            </a:r>
            <a:r>
              <a:rPr lang="de-DE" dirty="0" err="1">
                <a:solidFill>
                  <a:schemeClr val="bg1"/>
                </a:solidFill>
              </a:rPr>
              <a:t>with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 err="1">
                <a:solidFill>
                  <a:schemeClr val="bg1"/>
                </a:solidFill>
              </a:rPr>
              <a:t>without</a:t>
            </a:r>
            <a:r>
              <a:rPr lang="de-DE" dirty="0">
                <a:solidFill>
                  <a:schemeClr val="bg1"/>
                </a:solidFill>
              </a:rPr>
              <a:t> stream}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 err="1">
                <a:solidFill>
                  <a:schemeClr val="bg1"/>
                </a:solidFill>
              </a:rPr>
              <a:t>RunMultiturnAsync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09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3E19A-006B-B586-7727-ED130470E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16" y="183823"/>
            <a:ext cx="6400800" cy="553998"/>
          </a:xfrm>
        </p:spPr>
        <p:txBody>
          <a:bodyPr/>
          <a:lstStyle/>
          <a:p>
            <a:r>
              <a:rPr lang="en-US" dirty="0"/>
              <a:t>Demo</a:t>
            </a:r>
            <a:endParaRPr lang="de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7F97F5-50DE-4659-A3AD-C1A8020C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0716" y="2408869"/>
            <a:ext cx="6400800" cy="492443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Natural Language to T-SQL</a:t>
            </a:r>
          </a:p>
          <a:p>
            <a:pPr marL="285750" indent="-285750">
              <a:buFontTx/>
              <a:buChar char="-"/>
            </a:pPr>
            <a:r>
              <a:rPr lang="de-DE" dirty="0"/>
              <a:t>Query Relation DB via -&gt; TDD-Driver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E23113-B877-E630-D576-C9A6DB2A8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764" y="687348"/>
            <a:ext cx="5247129" cy="584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1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CF91C-C3DE-A4E5-92CE-34DCB72DA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04A2137-8978-6232-8805-89C43A014257}"/>
              </a:ext>
            </a:extLst>
          </p:cNvPr>
          <p:cNvSpPr/>
          <p:nvPr/>
        </p:nvSpPr>
        <p:spPr bwMode="auto">
          <a:xfrm>
            <a:off x="451785" y="4097396"/>
            <a:ext cx="6564009" cy="2049419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de-DE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AAA334-F2CF-ECCC-11D7-551B9256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851" y="2152110"/>
            <a:ext cx="4485628" cy="738664"/>
          </a:xfrm>
        </p:spPr>
        <p:txBody>
          <a:bodyPr/>
          <a:lstStyle/>
          <a:p>
            <a:r>
              <a:rPr lang="en-US" sz="4800" dirty="0" err="1"/>
              <a:t>qatlho’neS</a:t>
            </a:r>
            <a:r>
              <a:rPr lang="en-US" sz="4800" dirty="0"/>
              <a:t> </a:t>
            </a:r>
            <a:r>
              <a:rPr lang="en-US" sz="4800" dirty="0">
                <a:sym typeface="Wingdings" panose="05000000000000000000" pitchFamily="2" charset="2"/>
              </a:rPr>
              <a:t></a:t>
            </a:r>
            <a:endParaRPr lang="de-DE" sz="72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C24E264-66D4-0DC2-7C3C-C6512FCEF30A}"/>
              </a:ext>
            </a:extLst>
          </p:cNvPr>
          <p:cNvSpPr txBox="1">
            <a:spLocks/>
          </p:cNvSpPr>
          <p:nvPr/>
        </p:nvSpPr>
        <p:spPr>
          <a:xfrm>
            <a:off x="607174" y="4490852"/>
            <a:ext cx="91440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/>
              <a:t>Dr. Damir Dobric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5C6A0E-7D06-AD2D-92F1-896865423361}"/>
              </a:ext>
            </a:extLst>
          </p:cNvPr>
          <p:cNvSpPr txBox="1"/>
          <p:nvPr/>
        </p:nvSpPr>
        <p:spPr>
          <a:xfrm>
            <a:off x="451786" y="4826714"/>
            <a:ext cx="6812782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sz="1400" dirty="0"/>
              <a:t>Lead Software Architect daenet GmbH / ACP Digital</a:t>
            </a:r>
          </a:p>
          <a:p>
            <a:pPr>
              <a:lnSpc>
                <a:spcPts val="2100"/>
              </a:lnSpc>
            </a:pPr>
            <a:r>
              <a:rPr lang="en-US" sz="1400" dirty="0"/>
              <a:t>Microsoft Regional Director, </a:t>
            </a:r>
          </a:p>
          <a:p>
            <a:pPr>
              <a:lnSpc>
                <a:spcPts val="2100"/>
              </a:lnSpc>
            </a:pPr>
            <a:r>
              <a:rPr lang="en-US" sz="1400" dirty="0"/>
              <a:t>Most Valuable Professional: Azure + AI</a:t>
            </a:r>
            <a:endParaRPr lang="en-DE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FDA7BF-CAD0-0B59-BB13-427ADCDC4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782" y="4279369"/>
            <a:ext cx="1813564" cy="179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2831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icrosoft Build 16:9 Template Light">
  <a:themeElements>
    <a:clrScheme name="Custom 80">
      <a:dk1>
        <a:srgbClr val="000000"/>
      </a:dk1>
      <a:lt1>
        <a:srgbClr val="FFFFFF"/>
      </a:lt1>
      <a:dk2>
        <a:srgbClr val="2A446F"/>
      </a:dk2>
      <a:lt2>
        <a:srgbClr val="D7D2CB"/>
      </a:lt2>
      <a:accent1>
        <a:srgbClr val="00A4EF"/>
      </a:accent1>
      <a:accent2>
        <a:srgbClr val="7FBA00"/>
      </a:accent2>
      <a:accent3>
        <a:srgbClr val="F25022"/>
      </a:accent3>
      <a:accent4>
        <a:srgbClr val="BF9474"/>
      </a:accent4>
      <a:accent5>
        <a:srgbClr val="FFB900"/>
      </a:accent5>
      <a:accent6>
        <a:srgbClr val="B1B3B3"/>
      </a:accent6>
      <a:hlink>
        <a:srgbClr val="0078D4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RK261.pptx" id="{2E72E2B3-FE3E-4181-9DB6-1239569C0193}" vid="{196D48A7-9118-4EF8-A0B8-2AC9DFC1F8E2}"/>
    </a:ext>
  </a:extLst>
</a:theme>
</file>

<file path=ppt/theme/theme2.xml><?xml version="1.0" encoding="utf-8"?>
<a:theme xmlns:a="http://schemas.openxmlformats.org/drawingml/2006/main" name="Microsoft Build 16:9 Template Dark">
  <a:themeElements>
    <a:clrScheme name="Custom 79">
      <a:dk1>
        <a:srgbClr val="000000"/>
      </a:dk1>
      <a:lt1>
        <a:srgbClr val="FFFFFF"/>
      </a:lt1>
      <a:dk2>
        <a:srgbClr val="091F2C"/>
      </a:dk2>
      <a:lt2>
        <a:srgbClr val="E8E6DF"/>
      </a:lt2>
      <a:accent1>
        <a:srgbClr val="00A4EF"/>
      </a:accent1>
      <a:accent2>
        <a:srgbClr val="7FBA00"/>
      </a:accent2>
      <a:accent3>
        <a:srgbClr val="F25022"/>
      </a:accent3>
      <a:accent4>
        <a:srgbClr val="E1D3C7"/>
      </a:accent4>
      <a:accent5>
        <a:srgbClr val="FFB900"/>
      </a:accent5>
      <a:accent6>
        <a:srgbClr val="D9D9D6"/>
      </a:accent6>
      <a:hlink>
        <a:srgbClr val="8DC8E8"/>
      </a:hlink>
      <a:folHlink>
        <a:srgbClr val="C5B4E3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RK261.pptx" id="{2E72E2B3-FE3E-4181-9DB6-1239569C0193}" vid="{4C22E9C1-8B86-4435-B7C1-3F0CD64ED46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GenerationTime xmlns="804751ba-60e0-4191-9865-d7e5284c1d69" xsi:nil="true"/>
    <MediaServiceEventHashCode xmlns="804751ba-60e0-4191-9865-d7e5284c1d69" xsi:nil="true"/>
    <MediaServiceOCR xmlns="804751ba-60e0-4191-9865-d7e5284c1d69" xsi:nil="true"/>
    <MediaServiceMetadata xmlns="804751ba-60e0-4191-9865-d7e5284c1d69" xsi:nil="true"/>
    <MediaServiceDateTaken xmlns="804751ba-60e0-4191-9865-d7e5284c1d69" xsi:nil="true"/>
    <MediaServiceFastMetadata xmlns="804751ba-60e0-4191-9865-d7e5284c1d69" xsi:nil="true"/>
    <lcf76f155ced4ddcb4097134ff3c332f xmlns="804751ba-60e0-4191-9865-d7e5284c1d69">
      <Terms xmlns="http://schemas.microsoft.com/office/infopath/2007/PartnerControls"/>
    </lcf76f155ced4ddcb4097134ff3c332f>
    <Number xmlns="804751ba-60e0-4191-9865-d7e5284c1d69" xsi:nil="true"/>
    <Time xmlns="804751ba-60e0-4191-9865-d7e5284c1d69" xsi:nil="true"/>
    <content xmlns="804751ba-60e0-4191-9865-d7e5284c1d6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E71A6B924FC94981CCAD1A585590D8" ma:contentTypeVersion="27" ma:contentTypeDescription="Create a new document." ma:contentTypeScope="" ma:versionID="566528f2922ad54e26a908d2133454c1">
  <xsd:schema xmlns:xsd="http://www.w3.org/2001/XMLSchema" xmlns:xs="http://www.w3.org/2001/XMLSchema" xmlns:p="http://schemas.microsoft.com/office/2006/metadata/properties" xmlns:ns1="http://schemas.microsoft.com/sharepoint/v3" xmlns:ns2="804751ba-60e0-4191-9865-d7e5284c1d69" xmlns:ns3="913b567d-4c83-4181-a45c-f04ce7e1b72e" xmlns:ns4="230e9df3-be65-4c73-a93b-d1236ebd677e" targetNamespace="http://schemas.microsoft.com/office/2006/metadata/properties" ma:root="true" ma:fieldsID="6c91453d1ce2972ce38a1123b4b20cb5" ns1:_="" ns2:_="" ns3:_="" ns4:_="">
    <xsd:import namespace="http://schemas.microsoft.com/sharepoint/v3"/>
    <xsd:import namespace="804751ba-60e0-4191-9865-d7e5284c1d69"/>
    <xsd:import namespace="913b567d-4c83-4181-a45c-f04ce7e1b72e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Number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Time" minOccurs="0"/>
                <xsd:element ref="ns2:MediaServiceSearchProperties" minOccurs="0"/>
                <xsd:element ref="ns2:MediaServiceObjectDetectorVersions" minOccurs="0"/>
                <xsd:element ref="ns2:TranslatedLang" minOccurs="0"/>
                <xsd:element ref="ns2:content" minOccurs="0"/>
                <xsd:element ref="ns2:MediaServiceDoc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4751ba-60e0-4191-9865-d7e5284c1d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hidden="true" ma:internalName="MediaServiceKeyPoints" ma:readOnly="true">
      <xsd:simpleType>
        <xsd:restriction base="dms:Note"/>
      </xsd:simpleType>
    </xsd:element>
    <xsd:element name="MediaServiceOCR" ma:index="17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18" nillable="true" ma:displayName="Location" ma:hidden="true" ma:internalName="MediaServiceLocation" ma:readOnly="true">
      <xsd:simpleType>
        <xsd:restriction base="dms:Text"/>
      </xsd:simpleType>
    </xsd:element>
    <xsd:element name="Number" ma:index="21" nillable="true" ma:displayName="Number" ma:format="Dropdown" ma:internalName="Number" ma:percentage="FALSE">
      <xsd:simpleType>
        <xsd:restriction base="dms:Number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Time" ma:index="26" nillable="true" ma:displayName="Time" ma:format="DateTime" ma:internalName="Time">
      <xsd:simpleType>
        <xsd:restriction base="dms:DateTim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ranslatedLang" ma:index="29" nillable="true" ma:displayName="Translated Language" ma:hidden="true" ma:internalName="TranslatedLang" ma:readOnly="true">
      <xsd:simpleType>
        <xsd:restriction base="dms:Text"/>
      </xsd:simpleType>
    </xsd:element>
    <xsd:element name="content" ma:index="30" nillable="true" ma:displayName="content" ma:format="Dropdown" ma:internalName="content">
      <xsd:simpleType>
        <xsd:restriction base="dms:Choice">
          <xsd:enumeration value="Visual Studio"/>
          <xsd:enumeration value="VS Code"/>
          <xsd:enumeration value="GitHub Copilot"/>
          <xsd:enumeration value="Dev Box"/>
          <xsd:enumeration value="Choice 5"/>
        </xsd:restriction>
      </xsd:simpleType>
    </xsd:element>
    <xsd:element name="MediaServiceDocTags" ma:index="31" nillable="true" ma:displayName="MediaServiceDocTags" ma:hidden="true" ma:internalName="MediaServiceDocTags" ma:readOnly="true">
      <xsd:simpleType>
        <xsd:restriction base="dms:Note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3b567d-4c83-4181-a45c-f04ce7e1b72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ae7d3c4e-66c4-4603-a26b-8d6b1e039262}" ma:internalName="TaxCatchAll" ma:showField="CatchAllData" ma:web="913b567d-4c83-4181-a45c-f04ce7e1b7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purl.org/dc/dcmitype/"/>
    <ds:schemaRef ds:uri="http://schemas.microsoft.com/office/2006/documentManagement/types"/>
    <ds:schemaRef ds:uri="http://schemas.microsoft.com/sharepoint/v3"/>
    <ds:schemaRef ds:uri="http://schemas.microsoft.com/office/infopath/2007/PartnerControls"/>
    <ds:schemaRef ds:uri="http://purl.org/dc/elements/1.1/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230e9df3-be65-4c73-a93b-d1236ebd677e"/>
    <ds:schemaRef ds:uri="913b567d-4c83-4181-a45c-f04ce7e1b72e"/>
    <ds:schemaRef ds:uri="804751ba-60e0-4191-9865-d7e5284c1d69"/>
  </ds:schemaRefs>
</ds:datastoreItem>
</file>

<file path=customXml/itemProps2.xml><?xml version="1.0" encoding="utf-8"?>
<ds:datastoreItem xmlns:ds="http://schemas.openxmlformats.org/officeDocument/2006/customXml" ds:itemID="{B8BDBCC3-0E3D-4ED4-BA7F-B34A290841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04751ba-60e0-4191-9865-d7e5284c1d69"/>
    <ds:schemaRef ds:uri="913b567d-4c83-4181-a45c-f04ce7e1b72e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DAENET Presentation Template 2026</Template>
  <TotalTime>0</TotalTime>
  <Words>570</Words>
  <Application>Microsoft Office PowerPoint</Application>
  <PresentationFormat>Widescreen</PresentationFormat>
  <Paragraphs>110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Calibri</vt:lpstr>
      <vt:lpstr>Consolas</vt:lpstr>
      <vt:lpstr>Segoe Sans Display Semibold</vt:lpstr>
      <vt:lpstr>Segoe UI</vt:lpstr>
      <vt:lpstr>Segoe UI Semibold</vt:lpstr>
      <vt:lpstr>var(--font-family-secondary)</vt:lpstr>
      <vt:lpstr>Wingdings</vt:lpstr>
      <vt:lpstr>Microsoft Build 16:9 Template Light</vt:lpstr>
      <vt:lpstr>Microsoft Build 16:9 Template Dark</vt:lpstr>
      <vt:lpstr>Deep Dive Beyond Basics </vt:lpstr>
      <vt:lpstr>See github repo</vt:lpstr>
      <vt:lpstr>AGENDA</vt:lpstr>
      <vt:lpstr>TOKENS</vt:lpstr>
      <vt:lpstr>What are tokens?</vt:lpstr>
      <vt:lpstr>Working with Tokens</vt:lpstr>
      <vt:lpstr>EMBEDDINGS</vt:lpstr>
      <vt:lpstr>What is embedding Vector?</vt:lpstr>
      <vt:lpstr>Embedding Models</vt:lpstr>
      <vt:lpstr>Embedding Models</vt:lpstr>
      <vt:lpstr>The Cosine Similarity</vt:lpstr>
      <vt:lpstr>DEMO</vt:lpstr>
      <vt:lpstr>When to use embeddings?</vt:lpstr>
      <vt:lpstr>COMPLETIONS</vt:lpstr>
      <vt:lpstr>LLMs Complete Text</vt:lpstr>
      <vt:lpstr>Transformers</vt:lpstr>
      <vt:lpstr>Completing Text Under the hub</vt:lpstr>
      <vt:lpstr>Retrieval Augmented Generation R A G</vt:lpstr>
      <vt:lpstr>What is RAG?</vt:lpstr>
      <vt:lpstr>RAG Demos</vt:lpstr>
      <vt:lpstr>The problem with RAG</vt:lpstr>
      <vt:lpstr>Reranking</vt:lpstr>
      <vt:lpstr>RAG Demo</vt:lpstr>
      <vt:lpstr>AGENTS Microsoft Agent Framework</vt:lpstr>
      <vt:lpstr>MAF Demos</vt:lpstr>
      <vt:lpstr>Demo</vt:lpstr>
      <vt:lpstr>qatlho’neS 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Build 2026</dc:subject>
  <dc:creator>Damir Dobric</dc:creator>
  <cp:keywords>Build 2026</cp:keywords>
  <dc:description/>
  <cp:lastModifiedBy>Damir Dobric</cp:lastModifiedBy>
  <cp:revision>23</cp:revision>
  <cp:lastPrinted>2023-02-15T20:48:24Z</cp:lastPrinted>
  <dcterms:created xsi:type="dcterms:W3CDTF">2026-06-22T10:24:51Z</dcterms:created>
  <dcterms:modified xsi:type="dcterms:W3CDTF">2026-07-03T06:34:08Z</dcterms:modified>
  <cp:category>Build 2026</cp:category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0x0101002FE71A6B924FC94981CCAD1A585590D8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  <property fmtid="{D5CDD505-2E9C-101B-9397-08002B2CF9AE}" pid="18" name="MediaServiceImageTags">
    <vt:lpwstr/>
  </property>
</Properties>
</file>